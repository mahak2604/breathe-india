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Official CPCB AQI</c:v>
                </c:pt>
              </c:strCache>
            </c:strRef>
          </c:tx>
          <c:spPr>
            <a:solidFill>
              <a:srgbClr val="898781"/>
            </a:solidFill>
          </c:spPr>
          <c:cat>
            <c:strRef>
              <c:f>Sheet1!$A$2:$A$8</c:f>
              <c:strCache>
                <c:ptCount val="7"/>
                <c:pt idx="0">
                  <c:v>Talcher</c:v>
                </c:pt>
                <c:pt idx="1">
                  <c:v>Jorapokhar</c:v>
                </c:pt>
                <c:pt idx="2">
                  <c:v>Lucknow</c:v>
                </c:pt>
                <c:pt idx="3">
                  <c:v>Gurugram</c:v>
                </c:pt>
                <c:pt idx="4">
                  <c:v>Patna</c:v>
                </c:pt>
                <c:pt idx="5">
                  <c:v>Delhi</c:v>
                </c:pt>
                <c:pt idx="6">
                  <c:v>Ahmedabad</c:v>
                </c:pt>
              </c:strCache>
            </c:strRef>
          </c:cat>
          <c:val>
            <c:numRef>
              <c:f>Sheet1!$B$2:$B$8</c:f>
              <c:numCache>
                <c:formatCode>General</c:formatCode>
                <c:ptCount val="7"/>
                <c:pt idx="0">
                  <c:v>128</c:v>
                </c:pt>
                <c:pt idx="1">
                  <c:v>133</c:v>
                </c:pt>
                <c:pt idx="2">
                  <c:v>198</c:v>
                </c:pt>
                <c:pt idx="3">
                  <c:v>208</c:v>
                </c:pt>
                <c:pt idx="4">
                  <c:v>215</c:v>
                </c:pt>
                <c:pt idx="5">
                  <c:v>257</c:v>
                </c:pt>
                <c:pt idx="6">
                  <c:v>384</c:v>
                </c:pt>
              </c:numCache>
            </c:numRef>
          </c:val>
        </c:ser>
        <c:ser>
          <c:idx val="1"/>
          <c:order val="1"/>
          <c:tx>
            <c:strRef>
              <c:f>Sheet1!$C$1</c:f>
              <c:strCache>
                <c:ptCount val="1"/>
                <c:pt idx="0">
                  <c:v>After cleaning</c:v>
                </c:pt>
              </c:strCache>
            </c:strRef>
          </c:tx>
          <c:spPr>
            <a:solidFill>
              <a:srgbClr val="2A78D6"/>
            </a:solidFill>
          </c:spPr>
          <c:cat>
            <c:strRef>
              <c:f>Sheet1!$A$2:$A$8</c:f>
              <c:strCache>
                <c:ptCount val="7"/>
                <c:pt idx="0">
                  <c:v>Talcher</c:v>
                </c:pt>
                <c:pt idx="1">
                  <c:v>Jorapokhar</c:v>
                </c:pt>
                <c:pt idx="2">
                  <c:v>Lucknow</c:v>
                </c:pt>
                <c:pt idx="3">
                  <c:v>Gurugram</c:v>
                </c:pt>
                <c:pt idx="4">
                  <c:v>Patna</c:v>
                </c:pt>
                <c:pt idx="5">
                  <c:v>Delhi</c:v>
                </c:pt>
                <c:pt idx="6">
                  <c:v>Ahmedabad</c:v>
                </c:pt>
              </c:strCache>
            </c:strRef>
          </c:cat>
          <c:val>
            <c:numRef>
              <c:f>Sheet1!$C$2:$C$8</c:f>
              <c:numCache>
                <c:formatCode>General</c:formatCode>
                <c:ptCount val="7"/>
                <c:pt idx="0">
                  <c:v>126</c:v>
                </c:pt>
                <c:pt idx="1">
                  <c:v>127</c:v>
                </c:pt>
                <c:pt idx="2">
                  <c:v>197</c:v>
                </c:pt>
                <c:pt idx="3">
                  <c:v>206</c:v>
                </c:pt>
                <c:pt idx="4">
                  <c:v>210</c:v>
                </c:pt>
                <c:pt idx="5">
                  <c:v>256</c:v>
                </c:pt>
                <c:pt idx="6">
                  <c:v>125</c:v>
                </c:pt>
              </c:numCache>
            </c:numRef>
          </c:val>
        </c:ser>
        <c:dLbls>
          <c:txPr>
            <a:bodyPr/>
            <a:lstStyle/>
            <a:p>
              <a:pPr>
                <a:defRPr sz="1200">
                  <a:solidFill>
                    <a:srgbClr val="52514E"/>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l"/>
        <c:majorTickMark val="out"/>
        <c:minorTickMark val="none"/>
        <c:tickLblPos val="nextTo"/>
        <c:spPr>
          <a:ln>
            <a:solidFill>
              <a:srgbClr val="E1E0D9"/>
            </a:solidFill>
          </a:ln>
        </c:spPr>
        <c:crossAx val="-2113994440"/>
        <c:crosses val="autoZero"/>
        <c:auto val="1"/>
        <c:lblAlgn val="ctr"/>
        <c:lblOffset val="100"/>
        <c:noMultiLvlLbl val="0"/>
      </c:catAx>
      <c:valAx>
        <c:axId val="-2113994440"/>
        <c:scaling/>
        <c:delete/>
        <c:axPos val="b"/>
        <c:majorTickMark val="out"/>
        <c:minorTickMark val="none"/>
        <c:tickLblPos val="nextTo"/>
        <c:spPr>
          <a:ln>
            <a:noFill/>
          </a:ln>
        </c:spPr>
        <c:crossAx val="-2068027336"/>
        <c:crosses val="autoZero"/>
      </c:valAx>
    </c:plotArea>
    <c:legend>
      <c:legendPos val="t"/>
      <c:overlay val="0"/>
      <c:txPr>
        <a:bodyPr/>
        <a:lstStyle/>
        <a:p>
          <a:pPr>
            <a:defRPr sz="1200"/>
          </a:pPr>
        </a:p>
      </c:txPr>
    </c:legend>
    <c:dispBlanksAs val="gap"/>
  </c:chart>
  <c:txPr>
    <a:bodyPr/>
    <a:lstStyle/>
    <a:p>
      <a:pPr>
        <a:defRPr sz="1200">
          <a:solidFill>
            <a:srgbClr val="52514E"/>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North India</c:v>
                </c:pt>
              </c:strCache>
            </c:strRef>
          </c:tx>
          <c:spPr>
            <a:ln w="31750">
              <a:solidFill>
                <a:srgbClr val="2A78D6"/>
              </a:solidFill>
            </a:ln>
          </c:spPr>
          <c:marker>
            <c:symbol val="circle"/>
            <c:size val="6"/>
            <c:spPr>
              <a:solidFill>
                <a:srgbClr val="2A78D6"/>
              </a:solidFill>
              <a:ln>
                <a:solidFill>
                  <a:srgbClr val="2A78D6"/>
                </a:solidFill>
              </a:ln>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136</c:v>
                </c:pt>
                <c:pt idx="1">
                  <c:v>99</c:v>
                </c:pt>
                <c:pt idx="2">
                  <c:v>65</c:v>
                </c:pt>
                <c:pt idx="3">
                  <c:v>64</c:v>
                </c:pt>
                <c:pt idx="4">
                  <c:v>68</c:v>
                </c:pt>
                <c:pt idx="5">
                  <c:v>58</c:v>
                </c:pt>
                <c:pt idx="6">
                  <c:v>42</c:v>
                </c:pt>
                <c:pt idx="7">
                  <c:v>38</c:v>
                </c:pt>
                <c:pt idx="8">
                  <c:v>42</c:v>
                </c:pt>
                <c:pt idx="9">
                  <c:v>99</c:v>
                </c:pt>
                <c:pt idx="10">
                  <c:v>153</c:v>
                </c:pt>
                <c:pt idx="11">
                  <c:v>149</c:v>
                </c:pt>
              </c:numCache>
            </c:numRef>
          </c:val>
          <c:smooth val="0"/>
        </c:ser>
        <c:ser>
          <c:idx val="1"/>
          <c:order val="1"/>
          <c:tx>
            <c:strRef>
              <c:f>Sheet1!$C$1</c:f>
              <c:strCache>
                <c:ptCount val="1"/>
                <c:pt idx="0">
                  <c:v>Other cities</c:v>
                </c:pt>
              </c:strCache>
            </c:strRef>
          </c:tx>
          <c:spPr>
            <a:ln w="31750">
              <a:solidFill>
                <a:srgbClr val="EB6834"/>
              </a:solidFill>
            </a:ln>
          </c:spPr>
          <c:marker>
            <c:symbol val="circle"/>
            <c:size val="6"/>
            <c:spPr>
              <a:solidFill>
                <a:srgbClr val="EB6834"/>
              </a:solidFill>
              <a:ln>
                <a:solidFill>
                  <a:srgbClr val="EB6834"/>
                </a:solidFill>
              </a:ln>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75</c:v>
                </c:pt>
                <c:pt idx="1">
                  <c:v>64</c:v>
                </c:pt>
                <c:pt idx="2">
                  <c:v>54</c:v>
                </c:pt>
                <c:pt idx="3">
                  <c:v>40</c:v>
                </c:pt>
                <c:pt idx="4">
                  <c:v>34</c:v>
                </c:pt>
                <c:pt idx="5">
                  <c:v>24</c:v>
                </c:pt>
                <c:pt idx="6">
                  <c:v>24</c:v>
                </c:pt>
                <c:pt idx="7">
                  <c:v>23</c:v>
                </c:pt>
                <c:pt idx="8">
                  <c:v>26</c:v>
                </c:pt>
                <c:pt idx="9">
                  <c:v>52</c:v>
                </c:pt>
                <c:pt idx="10">
                  <c:v>71</c:v>
                </c:pt>
                <c:pt idx="11">
                  <c:v>75</c:v>
                </c:pt>
              </c:numCache>
            </c:numRef>
          </c:val>
          <c:smooth val="0"/>
        </c:ser>
        <c:ser>
          <c:idx val="2"/>
          <c:order val="2"/>
          <c:tx>
            <c:strRef>
              <c:f>Sheet1!$D$1</c:f>
              <c:strCache>
                <c:ptCount val="1"/>
                <c:pt idx="0">
                  <c:v>Coastal cities</c:v>
                </c:pt>
              </c:strCache>
            </c:strRef>
          </c:tx>
          <c:spPr>
            <a:ln w="31750">
              <a:solidFill>
                <a:srgbClr val="1BAF7A"/>
              </a:solidFill>
            </a:ln>
          </c:spPr>
          <c:marker>
            <c:symbol val="circle"/>
            <c:size val="6"/>
            <c:spPr>
              <a:solidFill>
                <a:srgbClr val="1BAF7A"/>
              </a:solidFill>
              <a:ln>
                <a:solidFill>
                  <a:srgbClr val="1BAF7A"/>
                </a:solidFill>
              </a:ln>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64</c:v>
                </c:pt>
                <c:pt idx="1">
                  <c:v>51</c:v>
                </c:pt>
                <c:pt idx="2">
                  <c:v>36</c:v>
                </c:pt>
                <c:pt idx="3">
                  <c:v>25</c:v>
                </c:pt>
                <c:pt idx="4">
                  <c:v>22</c:v>
                </c:pt>
                <c:pt idx="5">
                  <c:v>24</c:v>
                </c:pt>
                <c:pt idx="6">
                  <c:v>27</c:v>
                </c:pt>
                <c:pt idx="7">
                  <c:v>26</c:v>
                </c:pt>
                <c:pt idx="8">
                  <c:v>27</c:v>
                </c:pt>
                <c:pt idx="9">
                  <c:v>38</c:v>
                </c:pt>
                <c:pt idx="10">
                  <c:v>48</c:v>
                </c:pt>
                <c:pt idx="11">
                  <c:v>58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1E0D9"/>
            </a:solidFill>
          </a:ln>
        </c:spPr>
        <c:crossAx val="2140495176"/>
        <c:crosses val="autoZero"/>
        <c:auto val="1"/>
        <c:lblAlgn val="ctr"/>
        <c:lblOffset val="100"/>
        <c:noMultiLvlLbl val="0"/>
      </c:catAx>
      <c:valAx>
        <c:axId val="2140495176"/>
        <c:scaling/>
        <c:delete val="0"/>
        <c:axPos val="l"/>
        <c:majorGridlines>
          <c:spPr>
            <a:ln w="9525">
              <a:solidFill>
                <a:srgbClr val="E1E0D9"/>
              </a:solidFill>
            </a:ln>
          </c:spPr>
        </c:majorGridlines>
        <c:majorTickMark val="out"/>
        <c:minorTickMark val="none"/>
        <c:tickLblPos val="nextTo"/>
        <c:spPr>
          <a:ln>
            <a:noFill/>
          </a:ln>
        </c:spPr>
        <c:crossAx val="2118791784"/>
        <c:crosses val="autoZero"/>
      </c:valAx>
    </c:plotArea>
    <c:legend>
      <c:legendPos val="t"/>
      <c:layout/>
      <c:overlay val="0"/>
      <c:txPr>
        <a:bodyPr/>
        <a:lstStyle/>
        <a:p>
          <a:pPr>
            <a:defRPr sz="1200"/>
          </a:pPr>
        </a:p>
      </c:txPr>
    </c:legend>
    <c:plotVisOnly val="1"/>
    <c:dispBlanksAs val="gap"/>
    <c:showDLblsOverMax val="0"/>
  </c:chart>
  <c:txPr>
    <a:bodyPr/>
    <a:lstStyle/>
    <a:p>
      <a:pPr>
        <a:defRPr sz="1200">
          <a:solidFill>
            <a:srgbClr val="52514E"/>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Persistence baseline</c:v>
                </c:pt>
              </c:strCache>
            </c:strRef>
          </c:tx>
          <c:spPr>
            <a:solidFill>
              <a:srgbClr val="898781"/>
            </a:solidFill>
          </c:spPr>
          <c:cat>
            <c:strRef>
              <c:f>Sheet1!$A$2:$A$4</c:f>
              <c:strCache>
                <c:ptCount val="3"/>
                <c:pt idx="0">
                  <c:v>Accuracy</c:v>
                </c:pt>
                <c:pt idx="1">
                  <c:v>Macro F1</c:v>
                </c:pt>
                <c:pt idx="2">
                  <c:v>Poor-or-worse days caught</c:v>
                </c:pt>
              </c:strCache>
            </c:strRef>
          </c:cat>
          <c:val>
            <c:numRef>
              <c:f>Sheet1!$B$2:$B$4</c:f>
              <c:numCache>
                <c:formatCode>General</c:formatCode>
                <c:ptCount val="3"/>
                <c:pt idx="0">
                  <c:v>0.72</c:v>
                </c:pt>
                <c:pt idx="1">
                  <c:v>0.66</c:v>
                </c:pt>
                <c:pt idx="2">
                  <c:v>0.8</c:v>
                </c:pt>
              </c:numCache>
            </c:numRef>
          </c:val>
        </c:ser>
        <c:ser>
          <c:idx val="1"/>
          <c:order val="1"/>
          <c:tx>
            <c:strRef>
              <c:f>Sheet1!$C$1</c:f>
              <c:strCache>
                <c:ptCount val="1"/>
                <c:pt idx="0">
                  <c:v>Logistic Regression</c:v>
                </c:pt>
              </c:strCache>
            </c:strRef>
          </c:tx>
          <c:spPr>
            <a:solidFill>
              <a:srgbClr val="9EC5F4"/>
            </a:solidFill>
          </c:spPr>
          <c:cat>
            <c:strRef>
              <c:f>Sheet1!$A$2:$A$4</c:f>
              <c:strCache>
                <c:ptCount val="3"/>
                <c:pt idx="0">
                  <c:v>Accuracy</c:v>
                </c:pt>
                <c:pt idx="1">
                  <c:v>Macro F1</c:v>
                </c:pt>
                <c:pt idx="2">
                  <c:v>Poor-or-worse days caught</c:v>
                </c:pt>
              </c:strCache>
            </c:strRef>
          </c:cat>
          <c:val>
            <c:numRef>
              <c:f>Sheet1!$C$2:$C$4</c:f>
              <c:numCache>
                <c:formatCode>General</c:formatCode>
                <c:ptCount val="3"/>
                <c:pt idx="0">
                  <c:v>0.68</c:v>
                </c:pt>
                <c:pt idx="1">
                  <c:v>0.64</c:v>
                </c:pt>
                <c:pt idx="2">
                  <c:v>0.93</c:v>
                </c:pt>
              </c:numCache>
            </c:numRef>
          </c:val>
        </c:ser>
        <c:ser>
          <c:idx val="2"/>
          <c:order val="2"/>
          <c:tx>
            <c:strRef>
              <c:f>Sheet1!$D$1</c:f>
              <c:strCache>
                <c:ptCount val="1"/>
                <c:pt idx="0">
                  <c:v>Random Forest</c:v>
                </c:pt>
              </c:strCache>
            </c:strRef>
          </c:tx>
          <c:spPr>
            <a:solidFill>
              <a:srgbClr val="6DA7EC"/>
            </a:solidFill>
          </c:spPr>
          <c:cat>
            <c:strRef>
              <c:f>Sheet1!$A$2:$A$4</c:f>
              <c:strCache>
                <c:ptCount val="3"/>
                <c:pt idx="0">
                  <c:v>Accuracy</c:v>
                </c:pt>
                <c:pt idx="1">
                  <c:v>Macro F1</c:v>
                </c:pt>
                <c:pt idx="2">
                  <c:v>Poor-or-worse days caught</c:v>
                </c:pt>
              </c:strCache>
            </c:strRef>
          </c:cat>
          <c:val>
            <c:numRef>
              <c:f>Sheet1!$D$2:$D$4</c:f>
              <c:numCache>
                <c:formatCode>General</c:formatCode>
                <c:ptCount val="3"/>
                <c:pt idx="0">
                  <c:v>0.76</c:v>
                </c:pt>
                <c:pt idx="1">
                  <c:v>0.7</c:v>
                </c:pt>
                <c:pt idx="2">
                  <c:v>0.9</c:v>
                </c:pt>
              </c:numCache>
            </c:numRef>
          </c:val>
        </c:ser>
        <c:ser>
          <c:idx val="3"/>
          <c:order val="3"/>
          <c:tx>
            <c:strRef>
              <c:f>Sheet1!$E$1</c:f>
              <c:strCache>
                <c:ptCount val="1"/>
                <c:pt idx="0">
                  <c:v>Gradient Boosting</c:v>
                </c:pt>
              </c:strCache>
            </c:strRef>
          </c:tx>
          <c:spPr>
            <a:solidFill>
              <a:srgbClr val="0D366B"/>
            </a:solidFill>
          </c:spPr>
          <c:cat>
            <c:strRef>
              <c:f>Sheet1!$A$2:$A$4</c:f>
              <c:strCache>
                <c:ptCount val="3"/>
                <c:pt idx="0">
                  <c:v>Accuracy</c:v>
                </c:pt>
                <c:pt idx="1">
                  <c:v>Macro F1</c:v>
                </c:pt>
                <c:pt idx="2">
                  <c:v>Poor-or-worse days caught</c:v>
                </c:pt>
              </c:strCache>
            </c:strRef>
          </c:cat>
          <c:val>
            <c:numRef>
              <c:f>Sheet1!$E$2:$E$4</c:f>
              <c:numCache>
                <c:formatCode>General</c:formatCode>
                <c:ptCount val="3"/>
                <c:pt idx="0">
                  <c:v>0.75</c:v>
                </c:pt>
                <c:pt idx="1">
                  <c:v>0.72</c:v>
                </c:pt>
                <c:pt idx="2">
                  <c:v>0.92</c:v>
                </c:pt>
              </c:numCache>
            </c:numRef>
          </c:val>
        </c:ser>
        <c:dLbls>
          <c:numFmt formatCode="0%" sourceLinked="0"/>
          <c:txPr>
            <a:bodyPr/>
            <a:lstStyle/>
            <a:p>
              <a:pPr>
                <a:defRPr sz="1100">
                  <a:solidFill>
                    <a:srgbClr val="52514E"/>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E1E0D9"/>
            </a:solidFill>
          </a:ln>
        </c:spPr>
        <c:crossAx val="-2113994440"/>
        <c:crosses val="autoZero"/>
        <c:auto val="1"/>
        <c:lblAlgn val="ctr"/>
        <c:lblOffset val="100"/>
        <c:noMultiLvlLbl val="0"/>
      </c:catAx>
      <c:valAx>
        <c:axId val="-2113994440"/>
        <c:scaling/>
        <c:delete/>
        <c:axPos val="l"/>
        <c:numFmt formatCode="0%" sourceLinked="0"/>
        <c:majorTickMark val="out"/>
        <c:minorTickMark val="none"/>
        <c:tickLblPos val="nextTo"/>
        <c:spPr>
          <a:ln>
            <a:noFill/>
          </a:ln>
        </c:spPr>
        <c:crossAx val="-2068027336"/>
        <c:crosses val="autoZero"/>
      </c:valAx>
    </c:plotArea>
    <c:legend>
      <c:legendPos val="t"/>
      <c:overlay val="0"/>
      <c:txPr>
        <a:bodyPr/>
        <a:lstStyle/>
        <a:p>
          <a:pPr>
            <a:defRPr sz="1200"/>
          </a:pPr>
        </a:p>
      </c:txPr>
    </c:legend>
    <c:dispBlanksAs val="gap"/>
  </c:chart>
  <c:txPr>
    <a:bodyPr/>
    <a:lstStyle/>
    <a:p>
      <a:pPr>
        <a:defRPr sz="1200">
          <a:solidFill>
            <a:srgbClr val="52514E"/>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Mahak and Yash. Our project asks one question: how much of a city's daily air pollution comes from weather and season, and how much from people? We used five and a half years of government data for 26 Indian cities, joined it with weather from a public API, and used the 2020 lockdown as a natural experiment.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three headline answers. First, pollution did fall in the 2020 lockdown, 41 percent for fine particles compared with 2019. But spring 2020 also had kinder weather. Once our model takes the weather out, the real lockdown effect is 28 percent, so about a third of the headline drop was weather. Second, tomorrow's air-quality category is predictable 75 percent of the time. Third, the wrangling itself changed the story, which we'll show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four sources. The core is the Central Pollution Control Board's daily data, downloaded from Kaggle. Weather came from the Open-Meteo API. It rate-limited us after seven cities, so we added pauses, back-off and a cache. City locations came from a geocoding API, where we had to check every match by state, because 'Amaravati' exists three times in India. Everything lands in one clean fact table, then goes into SQLite with key checks, year-partitioned Parquet, the dashboard and the models.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four ways the raw data misled us. One: Ahmedabad's carbon monoxide column is a copy of its nitric oxide column, identical on 94 percent of days. Two: on 256 days fine particles exceeded coarse particles, which is physically impossible. We first assumed the PM10 sensor was wrong; the data told us it was PM2.5, so we changed our rule. Three: broken sensors, including Shillong 'reading' 918. Four: impossible AQI values and big gaps. Every decision, 23 in all, is in our cleaning log with its reason.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is the result of that first cleaning step. Grey is the official ranking: Ahmedabad is far ahead of everyone, at a median AQI of 384. Blue is after cleaning: 125, seventh place. Every other city barely moves. This is why we spent so much effort on wrangling: one copied column would have named the wrong city in every chart and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Season sets the baseline. In North India the typical winter day has about 148 micrograms of fine particles, two and a half times the national limit, against 44 in the monsoon. Coastal cities swing much less. And a non-obvious one: a raw comparison says heavy-rain days are 65 percent cleaner. But heavy rain mostly falls in the monsoon, which is clean anyway. Comparing the same city in the same month, the real washout effect is 23 percent. Always control for season before crediting the weather.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 predicts tomorrow's AQI category, six classes, as an early warning. The baseline is 'tomorrow will be like today', which is hard to beat because air quality is persistent. We split by time, never randomly, because a random split leaks the future. Gradient Boosting wins on macro F1 and catches 92 percent of Poor-or-worse days. Its real value is on the days the category changes. And honestly: during the lockdown it did worse than the baseline, which shows its limits under a sudden shock.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B is our most original part. It predicts pollution from weather, season, day of week, trend and city only, never from pollution itself. Fed the real spring-2020 weather, it tells us what pollution should have been without a lockdown. The black line is reality, blue is the expectation. Delhi tracks the expectation until 25 March, then falls below it. We trusted it because it passed a placebo test on spring 2019. Result: PM2.5 fell 28 percent because of the lockdown, not 41. NO2, which comes from traffic, fell about 46 percent either 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live demo. On the Overview, 39 percent of days broke the limit; hover a city for its own profile. On City explorer, pick Delhi: its winters turn dark every year, and Anand Vihar is the worst station. On Lockdown, switch Delhi to Mumbai: Mumbai barely changed once weather is removed. On Early warning, switch Test to Lockdown and watch the model fall below the baseline. And the Data quality page shows every cleaning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our data covers monitored parts of 26 cities and ends in mid-2020, and our corrections are assumptions we documented. Three takeaways: season sets the baseline; people still matter, the lockdown really cut particles by 28 percent and NO2 by 46; and wrangling changed the answer. Thank you,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366B"/>
        </a:solidFill>
        <a:effectLst/>
      </p:bgPr>
    </p:bg>
    <p:spTree>
      <p:nvGrpSpPr>
        <p:cNvPr id="1" name=""/>
        <p:cNvGrpSpPr/>
        <p:nvPr/>
      </p:nvGrpSpPr>
      <p:grpSpPr/>
      <p:sp>
        <p:nvSpPr>
          <p:cNvPr id="2" name="TextBox 1"/>
          <p:cNvSpPr txBox="1"/>
          <p:nvPr/>
        </p:nvSpPr>
        <p:spPr>
          <a:xfrm>
            <a:off x="731520" y="1097280"/>
            <a:ext cx="8229600" cy="365760"/>
          </a:xfrm>
          <a:prstGeom prst="rect">
            <a:avLst/>
          </a:prstGeom>
          <a:noFill/>
        </p:spPr>
        <p:txBody>
          <a:bodyPr wrap="square" lIns="0" rIns="0" tIns="0" bIns="0" anchor="t">
            <a:spAutoFit/>
          </a:bodyPr>
          <a:lstStyle/>
          <a:p>
            <a:pPr algn="l">
              <a:lnSpc>
                <a:spcPct val="110000"/>
              </a:lnSpc>
              <a:spcAft>
                <a:spcPts val="600"/>
              </a:spcAft>
            </a:pPr>
            <a:r>
              <a:rPr sz="1400" b="1" i="0">
                <a:solidFill>
                  <a:srgbClr val="9EC5F4"/>
                </a:solidFill>
                <a:latin typeface="Calibri"/>
              </a:rPr>
              <a:t>DATA WRANGLING GROUP PROJECT</a:t>
            </a:r>
          </a:p>
        </p:txBody>
      </p:sp>
      <p:sp>
        <p:nvSpPr>
          <p:cNvPr id="3" name="TextBox 2"/>
          <p:cNvSpPr txBox="1"/>
          <p:nvPr/>
        </p:nvSpPr>
        <p:spPr>
          <a:xfrm>
            <a:off x="731520" y="1600200"/>
            <a:ext cx="10515600" cy="1097280"/>
          </a:xfrm>
          <a:prstGeom prst="rect">
            <a:avLst/>
          </a:prstGeom>
          <a:noFill/>
        </p:spPr>
        <p:txBody>
          <a:bodyPr wrap="square" lIns="0" rIns="0" tIns="0" bIns="0" anchor="t">
            <a:spAutoFit/>
          </a:bodyPr>
          <a:lstStyle/>
          <a:p>
            <a:pPr algn="l">
              <a:lnSpc>
                <a:spcPct val="100000"/>
              </a:lnSpc>
              <a:spcAft>
                <a:spcPts val="600"/>
              </a:spcAft>
            </a:pPr>
            <a:r>
              <a:rPr sz="6000" b="1" i="0">
                <a:solidFill>
                  <a:srgbClr val="FFFFFF"/>
                </a:solidFill>
                <a:latin typeface="Calibri"/>
              </a:rPr>
              <a:t>Breathe India</a:t>
            </a:r>
          </a:p>
        </p:txBody>
      </p:sp>
      <p:sp>
        <p:nvSpPr>
          <p:cNvPr id="4" name="TextBox 3"/>
          <p:cNvSpPr txBox="1"/>
          <p:nvPr/>
        </p:nvSpPr>
        <p:spPr>
          <a:xfrm>
            <a:off x="731520" y="2697480"/>
            <a:ext cx="10058400" cy="914400"/>
          </a:xfrm>
          <a:prstGeom prst="rect">
            <a:avLst/>
          </a:prstGeom>
          <a:noFill/>
        </p:spPr>
        <p:txBody>
          <a:bodyPr wrap="square" lIns="0" rIns="0" tIns="0" bIns="0" anchor="t">
            <a:spAutoFit/>
          </a:bodyPr>
          <a:lstStyle/>
          <a:p>
            <a:pPr algn="l">
              <a:lnSpc>
                <a:spcPct val="100000"/>
              </a:lnSpc>
              <a:spcAft>
                <a:spcPts val="600"/>
              </a:spcAft>
            </a:pPr>
            <a:r>
              <a:rPr sz="2800" b="0" i="0">
                <a:solidFill>
                  <a:srgbClr val="FFFFFF"/>
                </a:solidFill>
                <a:latin typeface="Calibri"/>
              </a:rPr>
              <a:t>What really drives air pollution in Indian cities?</a:t>
            </a:r>
          </a:p>
        </p:txBody>
      </p:sp>
      <p:sp>
        <p:nvSpPr>
          <p:cNvPr id="5" name="TextBox 4"/>
          <p:cNvSpPr txBox="1"/>
          <p:nvPr/>
        </p:nvSpPr>
        <p:spPr>
          <a:xfrm>
            <a:off x="731520" y="3977639"/>
            <a:ext cx="2560320" cy="685800"/>
          </a:xfrm>
          <a:prstGeom prst="rect">
            <a:avLst/>
          </a:prstGeom>
          <a:noFill/>
        </p:spPr>
        <p:txBody>
          <a:bodyPr wrap="square" lIns="0" rIns="0" tIns="0" bIns="0" anchor="t">
            <a:spAutoFit/>
          </a:bodyPr>
          <a:lstStyle/>
          <a:p>
            <a:pPr algn="l">
              <a:lnSpc>
                <a:spcPct val="100000"/>
              </a:lnSpc>
              <a:spcAft>
                <a:spcPts val="600"/>
              </a:spcAft>
            </a:pPr>
            <a:r>
              <a:rPr sz="3400" b="1" i="0">
                <a:solidFill>
                  <a:srgbClr val="FFFFFF"/>
                </a:solidFill>
                <a:latin typeface="Calibri"/>
              </a:rPr>
              <a:t>26</a:t>
            </a:r>
          </a:p>
        </p:txBody>
      </p:sp>
      <p:sp>
        <p:nvSpPr>
          <p:cNvPr id="6" name="TextBox 5"/>
          <p:cNvSpPr txBox="1"/>
          <p:nvPr/>
        </p:nvSpPr>
        <p:spPr>
          <a:xfrm>
            <a:off x="731520" y="4709159"/>
            <a:ext cx="2560320" cy="731520"/>
          </a:xfrm>
          <a:prstGeom prst="rect">
            <a:avLst/>
          </a:prstGeom>
          <a:noFill/>
        </p:spPr>
        <p:txBody>
          <a:bodyPr wrap="square" lIns="0" rIns="0" tIns="0" bIns="0" anchor="t">
            <a:spAutoFit/>
          </a:bodyPr>
          <a:lstStyle/>
          <a:p>
            <a:pPr algn="l">
              <a:lnSpc>
                <a:spcPct val="105000"/>
              </a:lnSpc>
              <a:spcAft>
                <a:spcPts val="600"/>
              </a:spcAft>
            </a:pPr>
            <a:r>
              <a:rPr sz="1300" b="0" i="0">
                <a:solidFill>
                  <a:srgbClr val="9EC5F4"/>
                </a:solidFill>
                <a:latin typeface="Calibri"/>
              </a:rPr>
              <a:t>cities</a:t>
            </a:r>
          </a:p>
        </p:txBody>
      </p:sp>
      <p:sp>
        <p:nvSpPr>
          <p:cNvPr id="7" name="TextBox 6"/>
          <p:cNvSpPr txBox="1"/>
          <p:nvPr/>
        </p:nvSpPr>
        <p:spPr>
          <a:xfrm>
            <a:off x="3520439" y="3977639"/>
            <a:ext cx="2560320" cy="685800"/>
          </a:xfrm>
          <a:prstGeom prst="rect">
            <a:avLst/>
          </a:prstGeom>
          <a:noFill/>
        </p:spPr>
        <p:txBody>
          <a:bodyPr wrap="square" lIns="0" rIns="0" tIns="0" bIns="0" anchor="t">
            <a:spAutoFit/>
          </a:bodyPr>
          <a:lstStyle/>
          <a:p>
            <a:pPr algn="l">
              <a:lnSpc>
                <a:spcPct val="100000"/>
              </a:lnSpc>
              <a:spcAft>
                <a:spcPts val="600"/>
              </a:spcAft>
            </a:pPr>
            <a:r>
              <a:rPr sz="3400" b="1" i="0">
                <a:solidFill>
                  <a:srgbClr val="FFFFFF"/>
                </a:solidFill>
                <a:latin typeface="Calibri"/>
              </a:rPr>
              <a:t>5½ years</a:t>
            </a:r>
          </a:p>
        </p:txBody>
      </p:sp>
      <p:sp>
        <p:nvSpPr>
          <p:cNvPr id="8" name="TextBox 7"/>
          <p:cNvSpPr txBox="1"/>
          <p:nvPr/>
        </p:nvSpPr>
        <p:spPr>
          <a:xfrm>
            <a:off x="3520439" y="4709159"/>
            <a:ext cx="2560320" cy="731520"/>
          </a:xfrm>
          <a:prstGeom prst="rect">
            <a:avLst/>
          </a:prstGeom>
          <a:noFill/>
        </p:spPr>
        <p:txBody>
          <a:bodyPr wrap="square" lIns="0" rIns="0" tIns="0" bIns="0" anchor="t">
            <a:spAutoFit/>
          </a:bodyPr>
          <a:lstStyle/>
          <a:p>
            <a:pPr algn="l">
              <a:lnSpc>
                <a:spcPct val="105000"/>
              </a:lnSpc>
              <a:spcAft>
                <a:spcPts val="600"/>
              </a:spcAft>
            </a:pPr>
            <a:r>
              <a:rPr sz="1300" b="0" i="0">
                <a:solidFill>
                  <a:srgbClr val="9EC5F4"/>
                </a:solidFill>
                <a:latin typeface="Calibri"/>
              </a:rPr>
              <a:t>of daily data, 2015 to 2020</a:t>
            </a:r>
          </a:p>
        </p:txBody>
      </p:sp>
      <p:sp>
        <p:nvSpPr>
          <p:cNvPr id="9" name="TextBox 8"/>
          <p:cNvSpPr txBox="1"/>
          <p:nvPr/>
        </p:nvSpPr>
        <p:spPr>
          <a:xfrm>
            <a:off x="6309359" y="3977639"/>
            <a:ext cx="2560320" cy="685800"/>
          </a:xfrm>
          <a:prstGeom prst="rect">
            <a:avLst/>
          </a:prstGeom>
          <a:noFill/>
        </p:spPr>
        <p:txBody>
          <a:bodyPr wrap="square" lIns="0" rIns="0" tIns="0" bIns="0" anchor="t">
            <a:spAutoFit/>
          </a:bodyPr>
          <a:lstStyle/>
          <a:p>
            <a:pPr algn="l">
              <a:lnSpc>
                <a:spcPct val="100000"/>
              </a:lnSpc>
              <a:spcAft>
                <a:spcPts val="600"/>
              </a:spcAft>
            </a:pPr>
            <a:r>
              <a:rPr sz="3400" b="1" i="0">
                <a:solidFill>
                  <a:srgbClr val="FFFFFF"/>
                </a:solidFill>
                <a:latin typeface="Calibri"/>
              </a:rPr>
              <a:t>4</a:t>
            </a:r>
          </a:p>
        </p:txBody>
      </p:sp>
      <p:sp>
        <p:nvSpPr>
          <p:cNvPr id="10" name="TextBox 9"/>
          <p:cNvSpPr txBox="1"/>
          <p:nvPr/>
        </p:nvSpPr>
        <p:spPr>
          <a:xfrm>
            <a:off x="6309359" y="4709159"/>
            <a:ext cx="2560320" cy="731520"/>
          </a:xfrm>
          <a:prstGeom prst="rect">
            <a:avLst/>
          </a:prstGeom>
          <a:noFill/>
        </p:spPr>
        <p:txBody>
          <a:bodyPr wrap="square" lIns="0" rIns="0" tIns="0" bIns="0" anchor="t">
            <a:spAutoFit/>
          </a:bodyPr>
          <a:lstStyle/>
          <a:p>
            <a:pPr algn="l">
              <a:lnSpc>
                <a:spcPct val="105000"/>
              </a:lnSpc>
              <a:spcAft>
                <a:spcPts val="600"/>
              </a:spcAft>
            </a:pPr>
            <a:r>
              <a:rPr sz="1300" b="0" i="0">
                <a:solidFill>
                  <a:srgbClr val="9EC5F4"/>
                </a:solidFill>
                <a:latin typeface="Calibri"/>
              </a:rPr>
              <a:t>sources joined</a:t>
            </a:r>
          </a:p>
        </p:txBody>
      </p:sp>
      <p:sp>
        <p:nvSpPr>
          <p:cNvPr id="11" name="TextBox 10"/>
          <p:cNvSpPr txBox="1"/>
          <p:nvPr/>
        </p:nvSpPr>
        <p:spPr>
          <a:xfrm>
            <a:off x="9098280" y="3977639"/>
            <a:ext cx="2560320" cy="685800"/>
          </a:xfrm>
          <a:prstGeom prst="rect">
            <a:avLst/>
          </a:prstGeom>
          <a:noFill/>
        </p:spPr>
        <p:txBody>
          <a:bodyPr wrap="square" lIns="0" rIns="0" tIns="0" bIns="0" anchor="t">
            <a:spAutoFit/>
          </a:bodyPr>
          <a:lstStyle/>
          <a:p>
            <a:pPr algn="l">
              <a:lnSpc>
                <a:spcPct val="100000"/>
              </a:lnSpc>
              <a:spcAft>
                <a:spcPts val="600"/>
              </a:spcAft>
            </a:pPr>
            <a:r>
              <a:rPr sz="3400" b="1" i="0">
                <a:solidFill>
                  <a:srgbClr val="FFFFFF"/>
                </a:solidFill>
                <a:latin typeface="Calibri"/>
              </a:rPr>
              <a:t>3</a:t>
            </a:r>
          </a:p>
        </p:txBody>
      </p:sp>
      <p:sp>
        <p:nvSpPr>
          <p:cNvPr id="12" name="TextBox 11"/>
          <p:cNvSpPr txBox="1"/>
          <p:nvPr/>
        </p:nvSpPr>
        <p:spPr>
          <a:xfrm>
            <a:off x="9098280" y="4709159"/>
            <a:ext cx="2560320" cy="731520"/>
          </a:xfrm>
          <a:prstGeom prst="rect">
            <a:avLst/>
          </a:prstGeom>
          <a:noFill/>
        </p:spPr>
        <p:txBody>
          <a:bodyPr wrap="square" lIns="0" rIns="0" tIns="0" bIns="0" anchor="t">
            <a:spAutoFit/>
          </a:bodyPr>
          <a:lstStyle/>
          <a:p>
            <a:pPr algn="l">
              <a:lnSpc>
                <a:spcPct val="105000"/>
              </a:lnSpc>
              <a:spcAft>
                <a:spcPts val="600"/>
              </a:spcAft>
            </a:pPr>
            <a:r>
              <a:rPr sz="1300" b="0" i="0">
                <a:solidFill>
                  <a:srgbClr val="9EC5F4"/>
                </a:solidFill>
                <a:latin typeface="Calibri"/>
              </a:rPr>
              <a:t>machine-learning models</a:t>
            </a:r>
          </a:p>
        </p:txBody>
      </p:sp>
      <p:sp>
        <p:nvSpPr>
          <p:cNvPr id="13" name="TextBox 12"/>
          <p:cNvSpPr txBox="1"/>
          <p:nvPr/>
        </p:nvSpPr>
        <p:spPr>
          <a:xfrm>
            <a:off x="731520" y="5806440"/>
            <a:ext cx="10058400" cy="365760"/>
          </a:xfrm>
          <a:prstGeom prst="rect">
            <a:avLst/>
          </a:prstGeom>
          <a:noFill/>
        </p:spPr>
        <p:txBody>
          <a:bodyPr wrap="square" lIns="0" rIns="0" tIns="0" bIns="0" anchor="t">
            <a:spAutoFit/>
          </a:bodyPr>
          <a:lstStyle/>
          <a:p>
            <a:pPr algn="l">
              <a:lnSpc>
                <a:spcPct val="110000"/>
              </a:lnSpc>
              <a:spcAft>
                <a:spcPts val="600"/>
              </a:spcAft>
            </a:pPr>
            <a:r>
              <a:rPr sz="1600" b="0" i="0">
                <a:solidFill>
                  <a:srgbClr val="FFFFFF"/>
                </a:solidFill>
                <a:latin typeface="Calibri"/>
              </a:rPr>
              <a:t>Mahak Wadhawan (L074)  ·  Yash Shah (L056)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2A78D6"/>
                </a:solidFill>
                <a:latin typeface="Calibri"/>
              </a:rPr>
              <a:t>THE ANSWER, UP FRONT</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lnSpc>
                <a:spcPct val="100000"/>
              </a:lnSpc>
              <a:spcAft>
                <a:spcPts val="600"/>
              </a:spcAft>
            </a:pPr>
            <a:r>
              <a:rPr sz="3000" b="1" i="0">
                <a:solidFill>
                  <a:srgbClr val="0D366B"/>
                </a:solidFill>
                <a:latin typeface="Calibri"/>
              </a:rPr>
              <a:t>A third of the lockdown's “clean air” was actually the weather</a:t>
            </a:r>
          </a:p>
        </p:txBody>
      </p:sp>
      <p:sp>
        <p:nvSpPr>
          <p:cNvPr id="4" name="Rounded Rectangle 3"/>
          <p:cNvSpPr/>
          <p:nvPr/>
        </p:nvSpPr>
        <p:spPr>
          <a:xfrm>
            <a:off x="548640" y="1828800"/>
            <a:ext cx="3474720" cy="28346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48840"/>
            <a:ext cx="2926080" cy="685800"/>
          </a:xfrm>
          <a:prstGeom prst="rect">
            <a:avLst/>
          </a:prstGeom>
          <a:noFill/>
        </p:spPr>
        <p:txBody>
          <a:bodyPr wrap="square" lIns="0" rIns="0" tIns="0" bIns="0" anchor="t">
            <a:spAutoFit/>
          </a:bodyPr>
          <a:lstStyle/>
          <a:p>
            <a:pPr algn="l">
              <a:lnSpc>
                <a:spcPct val="100000"/>
              </a:lnSpc>
              <a:spcAft>
                <a:spcPts val="600"/>
              </a:spcAft>
            </a:pPr>
            <a:r>
              <a:rPr sz="6000" b="1" i="0">
                <a:solidFill>
                  <a:srgbClr val="898781"/>
                </a:solidFill>
                <a:latin typeface="Calibri"/>
              </a:rPr>
              <a:t>−41%</a:t>
            </a:r>
          </a:p>
        </p:txBody>
      </p:sp>
      <p:sp>
        <p:nvSpPr>
          <p:cNvPr id="6" name="TextBox 5"/>
          <p:cNvSpPr txBox="1"/>
          <p:nvPr/>
        </p:nvSpPr>
        <p:spPr>
          <a:xfrm>
            <a:off x="868680" y="3154680"/>
            <a:ext cx="2926080" cy="731520"/>
          </a:xfrm>
          <a:prstGeom prst="rect">
            <a:avLst/>
          </a:prstGeom>
          <a:noFill/>
        </p:spPr>
        <p:txBody>
          <a:bodyPr wrap="square" lIns="0" rIns="0" tIns="0" bIns="0" anchor="t">
            <a:spAutoFit/>
          </a:bodyPr>
          <a:lstStyle/>
          <a:p>
            <a:pPr algn="l">
              <a:lnSpc>
                <a:spcPct val="105000"/>
              </a:lnSpc>
              <a:spcAft>
                <a:spcPts val="600"/>
              </a:spcAft>
            </a:pPr>
            <a:r>
              <a:rPr sz="1600" b="0" i="0">
                <a:solidFill>
                  <a:srgbClr val="52514E"/>
                </a:solidFill>
                <a:latin typeface="Calibri"/>
              </a:rPr>
              <a:t>PM2.5 change in spring 2020 vs 2019: the headline everyone quoted</a:t>
            </a:r>
          </a:p>
        </p:txBody>
      </p:sp>
      <p:sp>
        <p:nvSpPr>
          <p:cNvPr id="7" name="Rounded Rectangle 6"/>
          <p:cNvSpPr/>
          <p:nvPr/>
        </p:nvSpPr>
        <p:spPr>
          <a:xfrm>
            <a:off x="4297679" y="1828800"/>
            <a:ext cx="3474720" cy="28346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2148840"/>
            <a:ext cx="2926080" cy="685800"/>
          </a:xfrm>
          <a:prstGeom prst="rect">
            <a:avLst/>
          </a:prstGeom>
          <a:noFill/>
        </p:spPr>
        <p:txBody>
          <a:bodyPr wrap="square" lIns="0" rIns="0" tIns="0" bIns="0" anchor="t">
            <a:spAutoFit/>
          </a:bodyPr>
          <a:lstStyle/>
          <a:p>
            <a:pPr algn="l">
              <a:lnSpc>
                <a:spcPct val="100000"/>
              </a:lnSpc>
              <a:spcAft>
                <a:spcPts val="600"/>
              </a:spcAft>
            </a:pPr>
            <a:r>
              <a:rPr sz="6000" b="1" i="0">
                <a:solidFill>
                  <a:srgbClr val="2A78D6"/>
                </a:solidFill>
                <a:latin typeface="Calibri"/>
              </a:rPr>
              <a:t>−28%</a:t>
            </a:r>
          </a:p>
        </p:txBody>
      </p:sp>
      <p:sp>
        <p:nvSpPr>
          <p:cNvPr id="9" name="TextBox 8"/>
          <p:cNvSpPr txBox="1"/>
          <p:nvPr/>
        </p:nvSpPr>
        <p:spPr>
          <a:xfrm>
            <a:off x="4617720" y="3154680"/>
            <a:ext cx="2926080" cy="731520"/>
          </a:xfrm>
          <a:prstGeom prst="rect">
            <a:avLst/>
          </a:prstGeom>
          <a:noFill/>
        </p:spPr>
        <p:txBody>
          <a:bodyPr wrap="square" lIns="0" rIns="0" tIns="0" bIns="0" anchor="t">
            <a:spAutoFit/>
          </a:bodyPr>
          <a:lstStyle/>
          <a:p>
            <a:pPr algn="l">
              <a:lnSpc>
                <a:spcPct val="105000"/>
              </a:lnSpc>
              <a:spcAft>
                <a:spcPts val="600"/>
              </a:spcAft>
            </a:pPr>
            <a:r>
              <a:rPr sz="1600" b="0" i="0">
                <a:solidFill>
                  <a:srgbClr val="52514E"/>
                </a:solidFill>
                <a:latin typeface="Calibri"/>
              </a:rPr>
              <a:t>the real lockdown effect once our model removes the weather</a:t>
            </a:r>
          </a:p>
        </p:txBody>
      </p:sp>
      <p:sp>
        <p:nvSpPr>
          <p:cNvPr id="10" name="Rounded Rectangle 9"/>
          <p:cNvSpPr/>
          <p:nvPr/>
        </p:nvSpPr>
        <p:spPr>
          <a:xfrm>
            <a:off x="8046719" y="1828800"/>
            <a:ext cx="3474720" cy="28346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59" y="2148840"/>
            <a:ext cx="2926080" cy="685800"/>
          </a:xfrm>
          <a:prstGeom prst="rect">
            <a:avLst/>
          </a:prstGeom>
          <a:noFill/>
        </p:spPr>
        <p:txBody>
          <a:bodyPr wrap="square" lIns="0" rIns="0" tIns="0" bIns="0" anchor="t">
            <a:spAutoFit/>
          </a:bodyPr>
          <a:lstStyle/>
          <a:p>
            <a:pPr algn="l">
              <a:lnSpc>
                <a:spcPct val="100000"/>
              </a:lnSpc>
              <a:spcAft>
                <a:spcPts val="600"/>
              </a:spcAft>
            </a:pPr>
            <a:r>
              <a:rPr sz="6000" b="1" i="0">
                <a:solidFill>
                  <a:srgbClr val="0D366B"/>
                </a:solidFill>
                <a:latin typeface="Calibri"/>
              </a:rPr>
              <a:t>75%</a:t>
            </a:r>
          </a:p>
        </p:txBody>
      </p:sp>
      <p:sp>
        <p:nvSpPr>
          <p:cNvPr id="12" name="TextBox 11"/>
          <p:cNvSpPr txBox="1"/>
          <p:nvPr/>
        </p:nvSpPr>
        <p:spPr>
          <a:xfrm>
            <a:off x="8366759" y="3154680"/>
            <a:ext cx="2926080" cy="731520"/>
          </a:xfrm>
          <a:prstGeom prst="rect">
            <a:avLst/>
          </a:prstGeom>
          <a:noFill/>
        </p:spPr>
        <p:txBody>
          <a:bodyPr wrap="square" lIns="0" rIns="0" tIns="0" bIns="0" anchor="t">
            <a:spAutoFit/>
          </a:bodyPr>
          <a:lstStyle/>
          <a:p>
            <a:pPr algn="l">
              <a:lnSpc>
                <a:spcPct val="105000"/>
              </a:lnSpc>
              <a:spcAft>
                <a:spcPts val="600"/>
              </a:spcAft>
            </a:pPr>
            <a:r>
              <a:rPr sz="1600" b="0" i="0">
                <a:solidFill>
                  <a:srgbClr val="52514E"/>
                </a:solidFill>
                <a:latin typeface="Calibri"/>
              </a:rPr>
              <a:t>of next-day air-quality categories predicted exactly (baseline 72%)</a:t>
            </a:r>
          </a:p>
        </p:txBody>
      </p:sp>
      <p:sp>
        <p:nvSpPr>
          <p:cNvPr id="13" name="TextBox 12"/>
          <p:cNvSpPr txBox="1"/>
          <p:nvPr/>
        </p:nvSpPr>
        <p:spPr>
          <a:xfrm>
            <a:off x="548640" y="5074920"/>
            <a:ext cx="10972800" cy="1005840"/>
          </a:xfrm>
          <a:prstGeom prst="rect">
            <a:avLst/>
          </a:prstGeom>
          <a:noFill/>
        </p:spPr>
        <p:txBody>
          <a:bodyPr wrap="square" lIns="0" rIns="0" tIns="0" bIns="0" anchor="t">
            <a:spAutoFit/>
          </a:bodyPr>
          <a:lstStyle/>
          <a:p>
            <a:pPr algn="l">
              <a:lnSpc>
                <a:spcPct val="110000"/>
              </a:lnSpc>
              <a:spcAft>
                <a:spcPts val="600"/>
              </a:spcAft>
            </a:pPr>
            <a:r>
              <a:rPr sz="1700" b="1" i="0">
                <a:solidFill>
                  <a:srgbClr val="0D366B"/>
                </a:solidFill>
                <a:latin typeface="Calibri"/>
              </a:rPr>
              <a:t>Also: </a:t>
            </a:r>
            <a:r>
              <a:rPr sz="1700" b="0" i="0">
                <a:solidFill>
                  <a:srgbClr val="1A1A1A"/>
                </a:solidFill>
                <a:latin typeface="Calibri"/>
              </a:rPr>
              <a:t>cleaning changed the story. Officially, Ahmedabad is India's most polluted city. It isn't: a sensor column was copied.</a:t>
            </a:r>
          </a:p>
        </p:txBody>
      </p:sp>
      <p:sp>
        <p:nvSpPr>
          <p:cNvPr id="14" name="TextBox 13"/>
          <p:cNvSpPr txBox="1"/>
          <p:nvPr/>
        </p:nvSpPr>
        <p:spPr>
          <a:xfrm>
            <a:off x="548640" y="6400800"/>
            <a:ext cx="8229600"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898781"/>
                </a:solidFill>
                <a:latin typeface="Calibri"/>
              </a:rPr>
              <a:t>Breathe India · Mahak Wadhawan (L074) · Yash Shah (L056)</a:t>
            </a:r>
          </a:p>
        </p:txBody>
      </p:sp>
      <p:sp>
        <p:nvSpPr>
          <p:cNvPr id="15" name="TextBox 14"/>
          <p:cNvSpPr txBox="1"/>
          <p:nvPr/>
        </p:nvSpPr>
        <p:spPr>
          <a:xfrm>
            <a:off x="10725912" y="6400800"/>
            <a:ext cx="9144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898781"/>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2A78D6"/>
                </a:solidFill>
                <a:latin typeface="Calibri"/>
              </a:rPr>
              <a:t>DATA AND PIPELINE</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lnSpc>
                <a:spcPct val="100000"/>
              </a:lnSpc>
              <a:spcAft>
                <a:spcPts val="600"/>
              </a:spcAft>
            </a:pPr>
            <a:r>
              <a:rPr sz="3000" b="1" i="0">
                <a:solidFill>
                  <a:srgbClr val="0D366B"/>
                </a:solidFill>
                <a:latin typeface="Calibri"/>
              </a:rPr>
              <a:t>Four sources, one star schema, three storage formats</a:t>
            </a:r>
          </a:p>
        </p:txBody>
      </p:sp>
      <p:sp>
        <p:nvSpPr>
          <p:cNvPr id="4" name="Rounded Rectangle 3"/>
          <p:cNvSpPr/>
          <p:nvPr/>
        </p:nvSpPr>
        <p:spPr>
          <a:xfrm>
            <a:off x="548640" y="1783080"/>
            <a:ext cx="3931920" cy="84124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92807"/>
            <a:ext cx="356616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CPCB air quality</a:t>
            </a:r>
          </a:p>
        </p:txBody>
      </p:sp>
      <p:sp>
        <p:nvSpPr>
          <p:cNvPr id="6" name="TextBox 5"/>
          <p:cNvSpPr txBox="1"/>
          <p:nvPr/>
        </p:nvSpPr>
        <p:spPr>
          <a:xfrm>
            <a:off x="777240" y="2221991"/>
            <a:ext cx="3566160" cy="365760"/>
          </a:xfrm>
          <a:prstGeom prst="rect">
            <a:avLst/>
          </a:prstGeom>
          <a:noFill/>
        </p:spPr>
        <p:txBody>
          <a:bodyPr wrap="square" lIns="0" rIns="0" tIns="0" bIns="0" anchor="t">
            <a:spAutoFit/>
          </a:bodyPr>
          <a:lstStyle/>
          <a:p>
            <a:pPr algn="l">
              <a:lnSpc>
                <a:spcPct val="110000"/>
              </a:lnSpc>
              <a:spcAft>
                <a:spcPts val="600"/>
              </a:spcAft>
            </a:pPr>
            <a:r>
              <a:rPr sz="1200" b="0" i="0">
                <a:solidFill>
                  <a:srgbClr val="52514E"/>
                </a:solidFill>
                <a:latin typeface="Calibri"/>
              </a:rPr>
              <a:t>Kaggle download · 29,531 city-days, 108,035 station-days</a:t>
            </a:r>
          </a:p>
        </p:txBody>
      </p:sp>
      <p:cxnSp>
        <p:nvCxnSpPr>
          <p:cNvPr id="7" name="Connector 6"/>
          <p:cNvCxnSpPr/>
          <p:nvPr/>
        </p:nvCxnSpPr>
        <p:spPr>
          <a:xfrm>
            <a:off x="4526280" y="2203704"/>
            <a:ext cx="548640" cy="1545335"/>
          </a:xfrm>
          <a:prstGeom prst="line">
            <a:avLst/>
          </a:prstGeom>
          <a:ln w="15875">
            <a:solidFill>
              <a:srgbClr val="89878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2807208"/>
            <a:ext cx="3931920" cy="84124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16936"/>
            <a:ext cx="356616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Open-Meteo weather API</a:t>
            </a:r>
          </a:p>
        </p:txBody>
      </p:sp>
      <p:sp>
        <p:nvSpPr>
          <p:cNvPr id="10" name="TextBox 9"/>
          <p:cNvSpPr txBox="1"/>
          <p:nvPr/>
        </p:nvSpPr>
        <p:spPr>
          <a:xfrm>
            <a:off x="777240" y="3246120"/>
            <a:ext cx="3566160" cy="365760"/>
          </a:xfrm>
          <a:prstGeom prst="rect">
            <a:avLst/>
          </a:prstGeom>
          <a:noFill/>
        </p:spPr>
        <p:txBody>
          <a:bodyPr wrap="square" lIns="0" rIns="0" tIns="0" bIns="0" anchor="t">
            <a:spAutoFit/>
          </a:bodyPr>
          <a:lstStyle/>
          <a:p>
            <a:pPr algn="l">
              <a:lnSpc>
                <a:spcPct val="110000"/>
              </a:lnSpc>
              <a:spcAft>
                <a:spcPts val="600"/>
              </a:spcAft>
            </a:pPr>
            <a:r>
              <a:rPr sz="1200" b="0" i="0">
                <a:solidFill>
                  <a:srgbClr val="52514E"/>
                </a:solidFill>
                <a:latin typeface="Calibri"/>
              </a:rPr>
              <a:t>52,234 city-days of ERA5 weather · rate-limited, cached</a:t>
            </a:r>
          </a:p>
        </p:txBody>
      </p:sp>
      <p:cxnSp>
        <p:nvCxnSpPr>
          <p:cNvPr id="11" name="Connector 10"/>
          <p:cNvCxnSpPr/>
          <p:nvPr/>
        </p:nvCxnSpPr>
        <p:spPr>
          <a:xfrm>
            <a:off x="4526280" y="3227832"/>
            <a:ext cx="548640" cy="521207"/>
          </a:xfrm>
          <a:prstGeom prst="line">
            <a:avLst/>
          </a:prstGeom>
          <a:ln w="15875">
            <a:solidFill>
              <a:srgbClr val="8987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8640" y="3831336"/>
            <a:ext cx="3931920" cy="84124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941064"/>
            <a:ext cx="356616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Open-Meteo geocoding API</a:t>
            </a:r>
          </a:p>
        </p:txBody>
      </p:sp>
      <p:sp>
        <p:nvSpPr>
          <p:cNvPr id="14" name="TextBox 13"/>
          <p:cNvSpPr txBox="1"/>
          <p:nvPr/>
        </p:nvSpPr>
        <p:spPr>
          <a:xfrm>
            <a:off x="777240" y="4270248"/>
            <a:ext cx="3566160" cy="365760"/>
          </a:xfrm>
          <a:prstGeom prst="rect">
            <a:avLst/>
          </a:prstGeom>
          <a:noFill/>
        </p:spPr>
        <p:txBody>
          <a:bodyPr wrap="square" lIns="0" rIns="0" tIns="0" bIns="0" anchor="t">
            <a:spAutoFit/>
          </a:bodyPr>
          <a:lstStyle/>
          <a:p>
            <a:pPr algn="l">
              <a:lnSpc>
                <a:spcPct val="110000"/>
              </a:lnSpc>
              <a:spcAft>
                <a:spcPts val="600"/>
              </a:spcAft>
            </a:pPr>
            <a:r>
              <a:rPr sz="1200" b="0" i="0">
                <a:solidFill>
                  <a:srgbClr val="52514E"/>
                </a:solidFill>
                <a:latin typeface="Calibri"/>
              </a:rPr>
              <a:t>26 cities located · names checked by state</a:t>
            </a:r>
          </a:p>
        </p:txBody>
      </p:sp>
      <p:cxnSp>
        <p:nvCxnSpPr>
          <p:cNvPr id="15" name="Connector 14"/>
          <p:cNvCxnSpPr/>
          <p:nvPr/>
        </p:nvCxnSpPr>
        <p:spPr>
          <a:xfrm flipV="1">
            <a:off x="4526280" y="3749039"/>
            <a:ext cx="548640" cy="502921"/>
          </a:xfrm>
          <a:prstGeom prst="line">
            <a:avLst/>
          </a:prstGeom>
          <a:ln w="15875">
            <a:solidFill>
              <a:srgbClr val="898781"/>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8640" y="4855464"/>
            <a:ext cx="3931920" cy="84124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65192"/>
            <a:ext cx="356616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Event calendar</a:t>
            </a:r>
          </a:p>
        </p:txBody>
      </p:sp>
      <p:sp>
        <p:nvSpPr>
          <p:cNvPr id="18" name="TextBox 17"/>
          <p:cNvSpPr txBox="1"/>
          <p:nvPr/>
        </p:nvSpPr>
        <p:spPr>
          <a:xfrm>
            <a:off x="777240" y="5294376"/>
            <a:ext cx="3566160" cy="365760"/>
          </a:xfrm>
          <a:prstGeom prst="rect">
            <a:avLst/>
          </a:prstGeom>
          <a:noFill/>
        </p:spPr>
        <p:txBody>
          <a:bodyPr wrap="square" lIns="0" rIns="0" tIns="0" bIns="0" anchor="t">
            <a:spAutoFit/>
          </a:bodyPr>
          <a:lstStyle/>
          <a:p>
            <a:pPr algn="l">
              <a:lnSpc>
                <a:spcPct val="110000"/>
              </a:lnSpc>
              <a:spcAft>
                <a:spcPts val="600"/>
              </a:spcAft>
            </a:pPr>
            <a:r>
              <a:rPr sz="1200" b="0" i="0">
                <a:solidFill>
                  <a:srgbClr val="52514E"/>
                </a:solidFill>
                <a:latin typeface="Calibri"/>
              </a:rPr>
              <a:t>Lockdown phases and Diwali dates</a:t>
            </a:r>
          </a:p>
        </p:txBody>
      </p:sp>
      <p:cxnSp>
        <p:nvCxnSpPr>
          <p:cNvPr id="19" name="Connector 18"/>
          <p:cNvCxnSpPr/>
          <p:nvPr/>
        </p:nvCxnSpPr>
        <p:spPr>
          <a:xfrm flipV="1">
            <a:off x="4526280" y="3749039"/>
            <a:ext cx="548640" cy="1527049"/>
          </a:xfrm>
          <a:prstGeom prst="line">
            <a:avLst/>
          </a:prstGeom>
          <a:ln w="15875">
            <a:solidFill>
              <a:srgbClr val="89878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20640" y="2651760"/>
            <a:ext cx="2743200" cy="2194560"/>
          </a:xfrm>
          <a:prstGeom prst="roundRect">
            <a:avLst>
              <a:gd name="adj" fmla="val 6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9240" y="2880360"/>
            <a:ext cx="2286000" cy="365760"/>
          </a:xfrm>
          <a:prstGeom prst="rect">
            <a:avLst/>
          </a:prstGeom>
          <a:noFill/>
        </p:spPr>
        <p:txBody>
          <a:bodyPr wrap="square" lIns="0" rIns="0" tIns="0" bIns="0" anchor="t">
            <a:spAutoFit/>
          </a:bodyPr>
          <a:lstStyle/>
          <a:p>
            <a:pPr algn="l">
              <a:lnSpc>
                <a:spcPct val="110000"/>
              </a:lnSpc>
              <a:spcAft>
                <a:spcPts val="600"/>
              </a:spcAft>
            </a:pPr>
            <a:r>
              <a:rPr sz="1800" b="1" i="0">
                <a:solidFill>
                  <a:srgbClr val="FFFFFF"/>
                </a:solidFill>
                <a:latin typeface="Calibri"/>
              </a:rPr>
              <a:t>Clean fact table</a:t>
            </a:r>
          </a:p>
        </p:txBody>
      </p:sp>
      <p:sp>
        <p:nvSpPr>
          <p:cNvPr id="22" name="TextBox 21"/>
          <p:cNvSpPr txBox="1"/>
          <p:nvPr/>
        </p:nvSpPr>
        <p:spPr>
          <a:xfrm>
            <a:off x="5349240" y="3291840"/>
            <a:ext cx="2377440" cy="1463040"/>
          </a:xfrm>
          <a:prstGeom prst="rect">
            <a:avLst/>
          </a:prstGeom>
          <a:noFill/>
        </p:spPr>
        <p:txBody>
          <a:bodyPr wrap="square" lIns="0" rIns="0" tIns="0" bIns="0" anchor="t">
            <a:spAutoFit/>
          </a:bodyPr>
          <a:lstStyle/>
          <a:p>
            <a:pPr algn="l">
              <a:lnSpc>
                <a:spcPct val="110000"/>
              </a:lnSpc>
              <a:spcAft>
                <a:spcPts val="400"/>
              </a:spcAft>
            </a:pPr>
            <a:r>
              <a:rPr sz="1300" b="0" i="0">
                <a:solidFill>
                  <a:srgbClr val="FFFFFF"/>
                </a:solidFill>
                <a:latin typeface="Calibri"/>
              </a:rPr>
              <a:t>28,260 city-days × 61 columns</a:t>
            </a:r>
          </a:p>
          <a:p>
            <a:pPr algn="l">
              <a:lnSpc>
                <a:spcPct val="110000"/>
              </a:lnSpc>
              <a:spcAft>
                <a:spcPts val="400"/>
              </a:spcAft>
            </a:pPr>
            <a:r>
              <a:rPr sz="1300" b="0" i="0">
                <a:solidFill>
                  <a:srgbClr val="FFFFFF"/>
                </a:solidFill>
                <a:latin typeface="Calibri"/>
              </a:rPr>
              <a:t>23 logged cleaning decisions</a:t>
            </a:r>
          </a:p>
          <a:p>
            <a:pPr algn="l">
              <a:lnSpc>
                <a:spcPct val="110000"/>
              </a:lnSpc>
              <a:spcAft>
                <a:spcPts val="400"/>
              </a:spcAft>
            </a:pPr>
            <a:r>
              <a:rPr sz="1300" b="0" i="0">
                <a:solidFill>
                  <a:srgbClr val="FFFFFF"/>
                </a:solidFill>
                <a:latin typeface="Calibri"/>
              </a:rPr>
              <a:t>Validated joins, lags, rolling means</a:t>
            </a:r>
          </a:p>
        </p:txBody>
      </p:sp>
      <p:sp>
        <p:nvSpPr>
          <p:cNvPr id="23" name="Rounded Rectangle 22"/>
          <p:cNvSpPr/>
          <p:nvPr/>
        </p:nvSpPr>
        <p:spPr>
          <a:xfrm>
            <a:off x="8458200" y="1783080"/>
            <a:ext cx="3154680" cy="84124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0" y="1892807"/>
            <a:ext cx="274320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SQLite</a:t>
            </a:r>
          </a:p>
        </p:txBody>
      </p:sp>
      <p:sp>
        <p:nvSpPr>
          <p:cNvPr id="25" name="TextBox 24"/>
          <p:cNvSpPr txBox="1"/>
          <p:nvPr/>
        </p:nvSpPr>
        <p:spPr>
          <a:xfrm>
            <a:off x="8686800" y="2221991"/>
            <a:ext cx="2743200" cy="365760"/>
          </a:xfrm>
          <a:prstGeom prst="rect">
            <a:avLst/>
          </a:prstGeom>
          <a:noFill/>
        </p:spPr>
        <p:txBody>
          <a:bodyPr wrap="square" lIns="0" rIns="0" tIns="0" bIns="0" anchor="t">
            <a:spAutoFit/>
          </a:bodyPr>
          <a:lstStyle/>
          <a:p>
            <a:pPr algn="l">
              <a:lnSpc>
                <a:spcPct val="110000"/>
              </a:lnSpc>
              <a:spcAft>
                <a:spcPts val="600"/>
              </a:spcAft>
            </a:pPr>
            <a:r>
              <a:rPr sz="1200" b="0" i="0">
                <a:solidFill>
                  <a:srgbClr val="52514E"/>
                </a:solidFill>
                <a:latin typeface="Calibri"/>
              </a:rPr>
              <a:t>keys + read-back checks</a:t>
            </a:r>
          </a:p>
        </p:txBody>
      </p:sp>
      <p:cxnSp>
        <p:nvCxnSpPr>
          <p:cNvPr id="26" name="Connector 25"/>
          <p:cNvCxnSpPr/>
          <p:nvPr/>
        </p:nvCxnSpPr>
        <p:spPr>
          <a:xfrm flipV="1">
            <a:off x="7863840" y="2203704"/>
            <a:ext cx="548640" cy="1545335"/>
          </a:xfrm>
          <a:prstGeom prst="line">
            <a:avLst/>
          </a:prstGeom>
          <a:ln w="15875">
            <a:solidFill>
              <a:srgbClr val="898781"/>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458200" y="2807208"/>
            <a:ext cx="3154680" cy="84124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0" y="2916936"/>
            <a:ext cx="274320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Parquet</a:t>
            </a:r>
          </a:p>
        </p:txBody>
      </p:sp>
      <p:sp>
        <p:nvSpPr>
          <p:cNvPr id="29" name="TextBox 28"/>
          <p:cNvSpPr txBox="1"/>
          <p:nvPr/>
        </p:nvSpPr>
        <p:spPr>
          <a:xfrm>
            <a:off x="8686800" y="3246120"/>
            <a:ext cx="2743200" cy="365760"/>
          </a:xfrm>
          <a:prstGeom prst="rect">
            <a:avLst/>
          </a:prstGeom>
          <a:noFill/>
        </p:spPr>
        <p:txBody>
          <a:bodyPr wrap="square" lIns="0" rIns="0" tIns="0" bIns="0" anchor="t">
            <a:spAutoFit/>
          </a:bodyPr>
          <a:lstStyle/>
          <a:p>
            <a:pPr algn="l">
              <a:lnSpc>
                <a:spcPct val="110000"/>
              </a:lnSpc>
              <a:spcAft>
                <a:spcPts val="600"/>
              </a:spcAft>
            </a:pPr>
            <a:r>
              <a:rPr sz="1200" b="0" i="0">
                <a:solidFill>
                  <a:srgbClr val="52514E"/>
                </a:solidFill>
                <a:latin typeface="Calibri"/>
              </a:rPr>
              <a:t>partitioned by year</a:t>
            </a:r>
          </a:p>
        </p:txBody>
      </p:sp>
      <p:cxnSp>
        <p:nvCxnSpPr>
          <p:cNvPr id="30" name="Connector 29"/>
          <p:cNvCxnSpPr/>
          <p:nvPr/>
        </p:nvCxnSpPr>
        <p:spPr>
          <a:xfrm flipV="1">
            <a:off x="7863840" y="3227832"/>
            <a:ext cx="548640" cy="521207"/>
          </a:xfrm>
          <a:prstGeom prst="line">
            <a:avLst/>
          </a:prstGeom>
          <a:ln w="15875">
            <a:solidFill>
              <a:srgbClr val="898781"/>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458200" y="3831336"/>
            <a:ext cx="3154680" cy="84124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0" y="3941064"/>
            <a:ext cx="274320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Power BI</a:t>
            </a:r>
          </a:p>
        </p:txBody>
      </p:sp>
      <p:sp>
        <p:nvSpPr>
          <p:cNvPr id="33" name="TextBox 32"/>
          <p:cNvSpPr txBox="1"/>
          <p:nvPr/>
        </p:nvSpPr>
        <p:spPr>
          <a:xfrm>
            <a:off x="8686800" y="4270248"/>
            <a:ext cx="2743200" cy="365760"/>
          </a:xfrm>
          <a:prstGeom prst="rect">
            <a:avLst/>
          </a:prstGeom>
          <a:noFill/>
        </p:spPr>
        <p:txBody>
          <a:bodyPr wrap="square" lIns="0" rIns="0" tIns="0" bIns="0" anchor="t">
            <a:spAutoFit/>
          </a:bodyPr>
          <a:lstStyle/>
          <a:p>
            <a:pPr algn="l">
              <a:lnSpc>
                <a:spcPct val="110000"/>
              </a:lnSpc>
              <a:spcAft>
                <a:spcPts val="600"/>
              </a:spcAft>
            </a:pPr>
            <a:r>
              <a:rPr sz="1200" b="0" i="0">
                <a:solidFill>
                  <a:srgbClr val="52514E"/>
                </a:solidFill>
                <a:latin typeface="Calibri"/>
              </a:rPr>
              <a:t>5-page dashboard</a:t>
            </a:r>
          </a:p>
        </p:txBody>
      </p:sp>
      <p:cxnSp>
        <p:nvCxnSpPr>
          <p:cNvPr id="34" name="Connector 33"/>
          <p:cNvCxnSpPr/>
          <p:nvPr/>
        </p:nvCxnSpPr>
        <p:spPr>
          <a:xfrm>
            <a:off x="7863840" y="3749039"/>
            <a:ext cx="548640" cy="502921"/>
          </a:xfrm>
          <a:prstGeom prst="line">
            <a:avLst/>
          </a:prstGeom>
          <a:ln w="15875">
            <a:solidFill>
              <a:srgbClr val="898781"/>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458200" y="4855464"/>
            <a:ext cx="3154680" cy="84124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0" y="4965192"/>
            <a:ext cx="274320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Models A, B, C</a:t>
            </a:r>
          </a:p>
        </p:txBody>
      </p:sp>
      <p:sp>
        <p:nvSpPr>
          <p:cNvPr id="37" name="TextBox 36"/>
          <p:cNvSpPr txBox="1"/>
          <p:nvPr/>
        </p:nvSpPr>
        <p:spPr>
          <a:xfrm>
            <a:off x="8686800" y="5294376"/>
            <a:ext cx="2743200" cy="365760"/>
          </a:xfrm>
          <a:prstGeom prst="rect">
            <a:avLst/>
          </a:prstGeom>
          <a:noFill/>
        </p:spPr>
        <p:txBody>
          <a:bodyPr wrap="square" lIns="0" rIns="0" tIns="0" bIns="0" anchor="t">
            <a:spAutoFit/>
          </a:bodyPr>
          <a:lstStyle/>
          <a:p>
            <a:pPr algn="l">
              <a:lnSpc>
                <a:spcPct val="110000"/>
              </a:lnSpc>
              <a:spcAft>
                <a:spcPts val="600"/>
              </a:spcAft>
            </a:pPr>
            <a:r>
              <a:rPr sz="1200" b="0" i="0">
                <a:solidFill>
                  <a:srgbClr val="52514E"/>
                </a:solidFill>
                <a:latin typeface="Calibri"/>
              </a:rPr>
              <a:t>scikit-learn</a:t>
            </a:r>
          </a:p>
        </p:txBody>
      </p:sp>
      <p:cxnSp>
        <p:nvCxnSpPr>
          <p:cNvPr id="38" name="Connector 37"/>
          <p:cNvCxnSpPr/>
          <p:nvPr/>
        </p:nvCxnSpPr>
        <p:spPr>
          <a:xfrm>
            <a:off x="7863840" y="3749039"/>
            <a:ext cx="548640" cy="1527049"/>
          </a:xfrm>
          <a:prstGeom prst="line">
            <a:avLst/>
          </a:prstGeom>
          <a:ln w="15875">
            <a:solidFill>
              <a:srgbClr val="898781"/>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48640" y="5897880"/>
            <a:ext cx="10972800" cy="365760"/>
          </a:xfrm>
          <a:prstGeom prst="rect">
            <a:avLst/>
          </a:prstGeom>
          <a:noFill/>
        </p:spPr>
        <p:txBody>
          <a:bodyPr wrap="square" lIns="0" rIns="0" tIns="0" bIns="0" anchor="t">
            <a:spAutoFit/>
          </a:bodyPr>
          <a:lstStyle/>
          <a:p>
            <a:pPr algn="l">
              <a:lnSpc>
                <a:spcPct val="110000"/>
              </a:lnSpc>
              <a:spcAft>
                <a:spcPts val="600"/>
              </a:spcAft>
            </a:pPr>
            <a:r>
              <a:rPr sz="1300" b="0" i="0">
                <a:solidFill>
                  <a:srgbClr val="52514E"/>
                </a:solidFill>
                <a:latin typeface="Calibri"/>
              </a:rPr>
              <a:t>Everything reruns end to end in about 8 minutes from one notebook: github.com/mahak2604/breathe-india</a:t>
            </a:r>
          </a:p>
        </p:txBody>
      </p:sp>
      <p:sp>
        <p:nvSpPr>
          <p:cNvPr id="40" name="TextBox 39"/>
          <p:cNvSpPr txBox="1"/>
          <p:nvPr/>
        </p:nvSpPr>
        <p:spPr>
          <a:xfrm>
            <a:off x="548640" y="6400800"/>
            <a:ext cx="8229600"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898781"/>
                </a:solidFill>
                <a:latin typeface="Calibri"/>
              </a:rPr>
              <a:t>Breathe India · Mahak Wadhawan (L074) · Yash Shah (L056)</a:t>
            </a:r>
          </a:p>
        </p:txBody>
      </p:sp>
      <p:sp>
        <p:nvSpPr>
          <p:cNvPr id="41" name="TextBox 40"/>
          <p:cNvSpPr txBox="1"/>
          <p:nvPr/>
        </p:nvSpPr>
        <p:spPr>
          <a:xfrm>
            <a:off x="10725912" y="6400800"/>
            <a:ext cx="9144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898781"/>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2A78D6"/>
                </a:solidFill>
                <a:latin typeface="Calibri"/>
              </a:rPr>
              <a:t>CLEANING</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lnSpc>
                <a:spcPct val="100000"/>
              </a:lnSpc>
              <a:spcAft>
                <a:spcPts val="600"/>
              </a:spcAft>
            </a:pPr>
            <a:r>
              <a:rPr sz="3000" b="1" i="0">
                <a:solidFill>
                  <a:srgbClr val="0D366B"/>
                </a:solidFill>
                <a:latin typeface="Calibri"/>
              </a:rPr>
              <a:t>The raw data was wrong in ways a quick look would miss</a:t>
            </a:r>
          </a:p>
        </p:txBody>
      </p:sp>
      <p:sp>
        <p:nvSpPr>
          <p:cNvPr id="4" name="Rounded Rectangle 3"/>
          <p:cNvSpPr/>
          <p:nvPr/>
        </p:nvSpPr>
        <p:spPr>
          <a:xfrm>
            <a:off x="548640" y="1783080"/>
            <a:ext cx="5440680" cy="19202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057400"/>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1417319" y="2075688"/>
            <a:ext cx="4297680" cy="411480"/>
          </a:xfrm>
          <a:prstGeom prst="rect">
            <a:avLst/>
          </a:prstGeom>
          <a:noFill/>
        </p:spPr>
        <p:txBody>
          <a:bodyPr wrap="square" lIns="0" rIns="0" tIns="0" bIns="0" anchor="t">
            <a:spAutoFit/>
          </a:bodyPr>
          <a:lstStyle/>
          <a:p>
            <a:pPr algn="l">
              <a:lnSpc>
                <a:spcPct val="110000"/>
              </a:lnSpc>
              <a:spcAft>
                <a:spcPts val="600"/>
              </a:spcAft>
            </a:pPr>
            <a:r>
              <a:rPr sz="1900" b="1" i="0">
                <a:solidFill>
                  <a:srgbClr val="0D366B"/>
                </a:solidFill>
                <a:latin typeface="Calibri"/>
              </a:rPr>
              <a:t>A copied column</a:t>
            </a:r>
          </a:p>
        </p:txBody>
      </p:sp>
      <p:sp>
        <p:nvSpPr>
          <p:cNvPr id="7" name="TextBox 6"/>
          <p:cNvSpPr txBox="1"/>
          <p:nvPr/>
        </p:nvSpPr>
        <p:spPr>
          <a:xfrm>
            <a:off x="1417319" y="2560320"/>
            <a:ext cx="4343400" cy="1097280"/>
          </a:xfrm>
          <a:prstGeom prst="rect">
            <a:avLst/>
          </a:prstGeom>
          <a:noFill/>
        </p:spPr>
        <p:txBody>
          <a:bodyPr wrap="square" lIns="0" rIns="0" tIns="0" bIns="0" anchor="t">
            <a:spAutoFit/>
          </a:bodyPr>
          <a:lstStyle/>
          <a:p>
            <a:pPr algn="l">
              <a:lnSpc>
                <a:spcPct val="110000"/>
              </a:lnSpc>
              <a:spcAft>
                <a:spcPts val="600"/>
              </a:spcAft>
            </a:pPr>
            <a:r>
              <a:rPr sz="1400" b="0" i="0">
                <a:solidFill>
                  <a:srgbClr val="1A1A1A"/>
                </a:solidFill>
                <a:latin typeface="Calibri"/>
              </a:rPr>
              <a:t>Ahmedabad's CO equals its NO on 94% of days, although the units differ 1000×. It drove 95% of the city's “Severe” days.</a:t>
            </a:r>
          </a:p>
        </p:txBody>
      </p:sp>
      <p:sp>
        <p:nvSpPr>
          <p:cNvPr id="8" name="Rounded Rectangle 7"/>
          <p:cNvSpPr/>
          <p:nvPr/>
        </p:nvSpPr>
        <p:spPr>
          <a:xfrm>
            <a:off x="6172200" y="1783080"/>
            <a:ext cx="5440680" cy="19202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2057400"/>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7040880" y="2075688"/>
            <a:ext cx="4297680" cy="411480"/>
          </a:xfrm>
          <a:prstGeom prst="rect">
            <a:avLst/>
          </a:prstGeom>
          <a:noFill/>
        </p:spPr>
        <p:txBody>
          <a:bodyPr wrap="square" lIns="0" rIns="0" tIns="0" bIns="0" anchor="t">
            <a:spAutoFit/>
          </a:bodyPr>
          <a:lstStyle/>
          <a:p>
            <a:pPr algn="l">
              <a:lnSpc>
                <a:spcPct val="110000"/>
              </a:lnSpc>
              <a:spcAft>
                <a:spcPts val="600"/>
              </a:spcAft>
            </a:pPr>
            <a:r>
              <a:rPr sz="1900" b="1" i="0">
                <a:solidFill>
                  <a:srgbClr val="0D366B"/>
                </a:solidFill>
                <a:latin typeface="Calibri"/>
              </a:rPr>
              <a:t>Impossible pairs</a:t>
            </a:r>
          </a:p>
        </p:txBody>
      </p:sp>
      <p:sp>
        <p:nvSpPr>
          <p:cNvPr id="11" name="TextBox 10"/>
          <p:cNvSpPr txBox="1"/>
          <p:nvPr/>
        </p:nvSpPr>
        <p:spPr>
          <a:xfrm>
            <a:off x="7040880" y="2560320"/>
            <a:ext cx="4343400" cy="1097280"/>
          </a:xfrm>
          <a:prstGeom prst="rect">
            <a:avLst/>
          </a:prstGeom>
          <a:noFill/>
        </p:spPr>
        <p:txBody>
          <a:bodyPr wrap="square" lIns="0" rIns="0" tIns="0" bIns="0" anchor="t">
            <a:spAutoFit/>
          </a:bodyPr>
          <a:lstStyle/>
          <a:p>
            <a:pPr algn="l">
              <a:lnSpc>
                <a:spcPct val="110000"/>
              </a:lnSpc>
              <a:spcAft>
                <a:spcPts val="600"/>
              </a:spcAft>
            </a:pPr>
            <a:r>
              <a:rPr sz="1400" b="0" i="0">
                <a:solidFill>
                  <a:srgbClr val="1A1A1A"/>
                </a:solidFill>
                <a:latin typeface="Calibri"/>
              </a:rPr>
              <a:t>PM2.5 above PM10 on 256 days. We assumed PM10 was wrong; the data showed PM2.5 was the faulty one 94% of the time.</a:t>
            </a:r>
          </a:p>
        </p:txBody>
      </p:sp>
      <p:sp>
        <p:nvSpPr>
          <p:cNvPr id="12" name="Rounded Rectangle 11"/>
          <p:cNvSpPr/>
          <p:nvPr/>
        </p:nvSpPr>
        <p:spPr>
          <a:xfrm>
            <a:off x="548640" y="3931920"/>
            <a:ext cx="5440680" cy="19202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4206240"/>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4" name="TextBox 13"/>
          <p:cNvSpPr txBox="1"/>
          <p:nvPr/>
        </p:nvSpPr>
        <p:spPr>
          <a:xfrm>
            <a:off x="1417319" y="4224528"/>
            <a:ext cx="4297680" cy="411480"/>
          </a:xfrm>
          <a:prstGeom prst="rect">
            <a:avLst/>
          </a:prstGeom>
          <a:noFill/>
        </p:spPr>
        <p:txBody>
          <a:bodyPr wrap="square" lIns="0" rIns="0" tIns="0" bIns="0" anchor="t">
            <a:spAutoFit/>
          </a:bodyPr>
          <a:lstStyle/>
          <a:p>
            <a:pPr algn="l">
              <a:lnSpc>
                <a:spcPct val="110000"/>
              </a:lnSpc>
              <a:spcAft>
                <a:spcPts val="600"/>
              </a:spcAft>
            </a:pPr>
            <a:r>
              <a:rPr sz="1900" b="1" i="0">
                <a:solidFill>
                  <a:srgbClr val="0D366B"/>
                </a:solidFill>
                <a:latin typeface="Calibri"/>
              </a:rPr>
              <a:t>Broken sensors</a:t>
            </a:r>
          </a:p>
        </p:txBody>
      </p:sp>
      <p:sp>
        <p:nvSpPr>
          <p:cNvPr id="15" name="TextBox 14"/>
          <p:cNvSpPr txBox="1"/>
          <p:nvPr/>
        </p:nvSpPr>
        <p:spPr>
          <a:xfrm>
            <a:off x="1417319" y="4709159"/>
            <a:ext cx="4343400" cy="1097280"/>
          </a:xfrm>
          <a:prstGeom prst="rect">
            <a:avLst/>
          </a:prstGeom>
          <a:noFill/>
        </p:spPr>
        <p:txBody>
          <a:bodyPr wrap="square" lIns="0" rIns="0" tIns="0" bIns="0" anchor="t">
            <a:spAutoFit/>
          </a:bodyPr>
          <a:lstStyle/>
          <a:p>
            <a:pPr algn="l">
              <a:lnSpc>
                <a:spcPct val="110000"/>
              </a:lnSpc>
              <a:spcAft>
                <a:spcPts val="600"/>
              </a:spcAft>
            </a:pPr>
            <a:r>
              <a:rPr sz="1400" b="0" i="0">
                <a:solidFill>
                  <a:srgbClr val="1A1A1A"/>
                </a:solidFill>
                <a:latin typeface="Calibri"/>
              </a:rPr>
              <a:t>A sensor stuck at 11.00 for 16 days, and 918 µg/m³ in Shillong, the cleanest city. 197 readings removed, with Diwali spikes kept.</a:t>
            </a:r>
          </a:p>
        </p:txBody>
      </p:sp>
      <p:sp>
        <p:nvSpPr>
          <p:cNvPr id="16" name="Rounded Rectangle 15"/>
          <p:cNvSpPr/>
          <p:nvPr/>
        </p:nvSpPr>
        <p:spPr>
          <a:xfrm>
            <a:off x="6172200" y="3931920"/>
            <a:ext cx="5440680" cy="19202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4206240"/>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8" name="TextBox 17"/>
          <p:cNvSpPr txBox="1"/>
          <p:nvPr/>
        </p:nvSpPr>
        <p:spPr>
          <a:xfrm>
            <a:off x="7040880" y="4224528"/>
            <a:ext cx="4297680" cy="411480"/>
          </a:xfrm>
          <a:prstGeom prst="rect">
            <a:avLst/>
          </a:prstGeom>
          <a:noFill/>
        </p:spPr>
        <p:txBody>
          <a:bodyPr wrap="square" lIns="0" rIns="0" tIns="0" bIns="0" anchor="t">
            <a:spAutoFit/>
          </a:bodyPr>
          <a:lstStyle/>
          <a:p>
            <a:pPr algn="l">
              <a:lnSpc>
                <a:spcPct val="110000"/>
              </a:lnSpc>
              <a:spcAft>
                <a:spcPts val="600"/>
              </a:spcAft>
            </a:pPr>
            <a:r>
              <a:rPr sz="1900" b="1" i="0">
                <a:solidFill>
                  <a:srgbClr val="0D366B"/>
                </a:solidFill>
                <a:latin typeface="Calibri"/>
              </a:rPr>
              <a:t>Gaps and limits</a:t>
            </a:r>
          </a:p>
        </p:txBody>
      </p:sp>
      <p:sp>
        <p:nvSpPr>
          <p:cNvPr id="19" name="TextBox 18"/>
          <p:cNvSpPr txBox="1"/>
          <p:nvPr/>
        </p:nvSpPr>
        <p:spPr>
          <a:xfrm>
            <a:off x="7040880" y="4709159"/>
            <a:ext cx="4343400" cy="1097280"/>
          </a:xfrm>
          <a:prstGeom prst="rect">
            <a:avLst/>
          </a:prstGeom>
          <a:noFill/>
        </p:spPr>
        <p:txBody>
          <a:bodyPr wrap="square" lIns="0" rIns="0" tIns="0" bIns="0" anchor="t">
            <a:spAutoFit/>
          </a:bodyPr>
          <a:lstStyle/>
          <a:p>
            <a:pPr algn="l">
              <a:lnSpc>
                <a:spcPct val="110000"/>
              </a:lnSpc>
              <a:spcAft>
                <a:spcPts val="600"/>
              </a:spcAft>
            </a:pPr>
            <a:r>
              <a:rPr sz="1400" b="0" i="0">
                <a:solidFill>
                  <a:srgbClr val="1A1A1A"/>
                </a:solidFill>
                <a:latin typeface="Calibri"/>
              </a:rPr>
              <a:t>AQI up to 2,049 on a 0–500 scale, exact zeros, 61% of one column empty. Short gaps interpolated, the rest left honest.</a:t>
            </a:r>
          </a:p>
        </p:txBody>
      </p:sp>
      <p:sp>
        <p:nvSpPr>
          <p:cNvPr id="20" name="TextBox 19"/>
          <p:cNvSpPr txBox="1"/>
          <p:nvPr/>
        </p:nvSpPr>
        <p:spPr>
          <a:xfrm>
            <a:off x="548640" y="6400800"/>
            <a:ext cx="8229600"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898781"/>
                </a:solidFill>
                <a:latin typeface="Calibri"/>
              </a:rPr>
              <a:t>Breathe India · Mahak Wadhawan (L074) · Yash Shah (L056)</a:t>
            </a:r>
          </a:p>
        </p:txBody>
      </p:sp>
      <p:sp>
        <p:nvSpPr>
          <p:cNvPr id="21" name="TextBox 20"/>
          <p:cNvSpPr txBox="1"/>
          <p:nvPr/>
        </p:nvSpPr>
        <p:spPr>
          <a:xfrm>
            <a:off x="10725912" y="6400800"/>
            <a:ext cx="9144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898781"/>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2A78D6"/>
                </a:solidFill>
                <a:latin typeface="Calibri"/>
              </a:rPr>
              <a:t>INSIGHT 1</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lnSpc>
                <a:spcPct val="100000"/>
              </a:lnSpc>
              <a:spcAft>
                <a:spcPts val="600"/>
              </a:spcAft>
            </a:pPr>
            <a:r>
              <a:rPr sz="3000" b="1" i="0">
                <a:solidFill>
                  <a:srgbClr val="0D366B"/>
                </a:solidFill>
                <a:latin typeface="Calibri"/>
              </a:rPr>
              <a:t>Cleaning moved Ahmedabad from India's most polluted city to 7th</a:t>
            </a:r>
          </a:p>
        </p:txBody>
      </p:sp>
      <p:graphicFrame>
        <p:nvGraphicFramePr>
          <p:cNvPr id="4" name="Chart 3"/>
          <p:cNvGraphicFramePr>
            <a:graphicFrameLocks noGrp="1"/>
          </p:cNvGraphicFramePr>
          <p:nvPr/>
        </p:nvGraphicFramePr>
        <p:xfrm>
          <a:off x="548640" y="1600200"/>
          <a:ext cx="7315200" cy="4343400"/>
        </p:xfrm>
        <a:graphic>
          <a:graphicData uri="http://schemas.openxmlformats.org/drawingml/2006/chart">
            <c:chart xmlns:c="http://schemas.openxmlformats.org/drawingml/2006/chart" r:id="rId2"/>
          </a:graphicData>
        </a:graphic>
      </p:graphicFrame>
      <p:sp>
        <p:nvSpPr>
          <p:cNvPr id="5" name="TextBox 4"/>
          <p:cNvSpPr txBox="1"/>
          <p:nvPr/>
        </p:nvSpPr>
        <p:spPr>
          <a:xfrm>
            <a:off x="8229600" y="1828800"/>
            <a:ext cx="3383280" cy="685800"/>
          </a:xfrm>
          <a:prstGeom prst="rect">
            <a:avLst/>
          </a:prstGeom>
          <a:noFill/>
        </p:spPr>
        <p:txBody>
          <a:bodyPr wrap="square" lIns="0" rIns="0" tIns="0" bIns="0" anchor="t">
            <a:spAutoFit/>
          </a:bodyPr>
          <a:lstStyle/>
          <a:p>
            <a:pPr algn="l">
              <a:lnSpc>
                <a:spcPct val="100000"/>
              </a:lnSpc>
              <a:spcAft>
                <a:spcPts val="600"/>
              </a:spcAft>
            </a:pPr>
            <a:r>
              <a:rPr sz="4000" b="1" i="0">
                <a:solidFill>
                  <a:srgbClr val="0D366B"/>
                </a:solidFill>
                <a:latin typeface="Calibri"/>
              </a:rPr>
              <a:t>384 → 125</a:t>
            </a:r>
          </a:p>
        </p:txBody>
      </p:sp>
      <p:sp>
        <p:nvSpPr>
          <p:cNvPr id="6" name="TextBox 5"/>
          <p:cNvSpPr txBox="1"/>
          <p:nvPr/>
        </p:nvSpPr>
        <p:spPr>
          <a:xfrm>
            <a:off x="8229600" y="2560320"/>
            <a:ext cx="3383280" cy="731520"/>
          </a:xfrm>
          <a:prstGeom prst="rect">
            <a:avLst/>
          </a:prstGeom>
          <a:noFill/>
        </p:spPr>
        <p:txBody>
          <a:bodyPr wrap="square" lIns="0" rIns="0" tIns="0" bIns="0" anchor="t">
            <a:spAutoFit/>
          </a:bodyPr>
          <a:lstStyle/>
          <a:p>
            <a:pPr algn="l">
              <a:lnSpc>
                <a:spcPct val="105000"/>
              </a:lnSpc>
              <a:spcAft>
                <a:spcPts val="600"/>
              </a:spcAft>
            </a:pPr>
            <a:r>
              <a:rPr sz="1300" b="0" i="0">
                <a:solidFill>
                  <a:srgbClr val="52514E"/>
                </a:solidFill>
                <a:latin typeface="Calibri"/>
              </a:rPr>
              <a:t>Ahmedabad's median AQI, official vs cleaned</a:t>
            </a:r>
          </a:p>
        </p:txBody>
      </p:sp>
      <p:sp>
        <p:nvSpPr>
          <p:cNvPr id="7" name="TextBox 6"/>
          <p:cNvSpPr txBox="1"/>
          <p:nvPr/>
        </p:nvSpPr>
        <p:spPr>
          <a:xfrm>
            <a:off x="8229600" y="3520440"/>
            <a:ext cx="3383280" cy="2377440"/>
          </a:xfrm>
          <a:prstGeom prst="rect">
            <a:avLst/>
          </a:prstGeom>
          <a:noFill/>
        </p:spPr>
        <p:txBody>
          <a:bodyPr wrap="square" lIns="0" rIns="0" tIns="0" bIns="0" anchor="t">
            <a:spAutoFit/>
          </a:bodyPr>
          <a:lstStyle/>
          <a:p>
            <a:pPr algn="l">
              <a:lnSpc>
                <a:spcPct val="110000"/>
              </a:lnSpc>
              <a:spcAft>
                <a:spcPts val="1000"/>
              </a:spcAft>
            </a:pPr>
            <a:r>
              <a:rPr sz="1600" b="0" i="0">
                <a:solidFill>
                  <a:srgbClr val="1A1A1A"/>
                </a:solidFill>
                <a:latin typeface="Calibri"/>
              </a:rPr>
              <a:t>Every other city barely moves.</a:t>
            </a:r>
          </a:p>
          <a:p>
            <a:pPr algn="l">
              <a:lnSpc>
                <a:spcPct val="110000"/>
              </a:lnSpc>
              <a:spcAft>
                <a:spcPts val="1000"/>
              </a:spcAft>
            </a:pPr>
            <a:r>
              <a:rPr sz="1600" b="0" i="0">
                <a:solidFill>
                  <a:srgbClr val="1A1A1A"/>
                </a:solidFill>
                <a:latin typeface="Calibri"/>
              </a:rPr>
              <a:t>Without this one fix, any ranking, map or model would have named the wrong city.</a:t>
            </a:r>
          </a:p>
        </p:txBody>
      </p:sp>
      <p:sp>
        <p:nvSpPr>
          <p:cNvPr id="8" name="TextBox 7"/>
          <p:cNvSpPr txBox="1"/>
          <p:nvPr/>
        </p:nvSpPr>
        <p:spPr>
          <a:xfrm>
            <a:off x="548640" y="5989320"/>
            <a:ext cx="7315200" cy="228600"/>
          </a:xfrm>
          <a:prstGeom prst="rect">
            <a:avLst/>
          </a:prstGeom>
          <a:noFill/>
        </p:spPr>
        <p:txBody>
          <a:bodyPr wrap="square" lIns="0" rIns="0" tIns="0" bIns="0" anchor="t">
            <a:spAutoFit/>
          </a:bodyPr>
          <a:lstStyle/>
          <a:p>
            <a:pPr algn="l">
              <a:lnSpc>
                <a:spcPct val="110000"/>
              </a:lnSpc>
              <a:spcAft>
                <a:spcPts val="600"/>
              </a:spcAft>
            </a:pPr>
            <a:r>
              <a:rPr sz="1100" b="0" i="0">
                <a:solidFill>
                  <a:srgbClr val="898781"/>
                </a:solidFill>
                <a:latin typeface="Calibri"/>
              </a:rPr>
              <a:t>Median daily AQI, 2015–2020, top 7 cities on official numbers</a:t>
            </a:r>
          </a:p>
        </p:txBody>
      </p:sp>
      <p:sp>
        <p:nvSpPr>
          <p:cNvPr id="9" name="TextBox 8"/>
          <p:cNvSpPr txBox="1"/>
          <p:nvPr/>
        </p:nvSpPr>
        <p:spPr>
          <a:xfrm>
            <a:off x="548640" y="6400800"/>
            <a:ext cx="8229600"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898781"/>
                </a:solidFill>
                <a:latin typeface="Calibri"/>
              </a:rPr>
              <a:t>Breathe India · Mahak Wadhawan (L074) · Yash Shah (L056)</a:t>
            </a:r>
          </a:p>
        </p:txBody>
      </p:sp>
      <p:sp>
        <p:nvSpPr>
          <p:cNvPr id="10" name="TextBox 9"/>
          <p:cNvSpPr txBox="1"/>
          <p:nvPr/>
        </p:nvSpPr>
        <p:spPr>
          <a:xfrm>
            <a:off x="10725912" y="6400800"/>
            <a:ext cx="9144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898781"/>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2A78D6"/>
                </a:solidFill>
                <a:latin typeface="Calibri"/>
              </a:rPr>
              <a:t>INSIGHTS 2 AND 3</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lnSpc>
                <a:spcPct val="100000"/>
              </a:lnSpc>
              <a:spcAft>
                <a:spcPts val="600"/>
              </a:spcAft>
            </a:pPr>
            <a:r>
              <a:rPr sz="3000" b="1" i="0">
                <a:solidFill>
                  <a:srgbClr val="0D366B"/>
                </a:solidFill>
                <a:latin typeface="Calibri"/>
              </a:rPr>
              <a:t>North India's winter air carries 3.3× the PM2.5 of its monsoon air</a:t>
            </a:r>
          </a:p>
        </p:txBody>
      </p:sp>
      <p:graphicFrame>
        <p:nvGraphicFramePr>
          <p:cNvPr id="4" name="Chart 3"/>
          <p:cNvGraphicFramePr>
            <a:graphicFrameLocks noGrp="1"/>
          </p:cNvGraphicFramePr>
          <p:nvPr/>
        </p:nvGraphicFramePr>
        <p:xfrm>
          <a:off x="548640" y="1600200"/>
          <a:ext cx="7315200" cy="4480560"/>
        </p:xfrm>
        <a:graphic>
          <a:graphicData uri="http://schemas.openxmlformats.org/drawingml/2006/chart">
            <c:chart xmlns:c="http://schemas.openxmlformats.org/drawingml/2006/chart" r:id="rId2"/>
          </a:graphicData>
        </a:graphic>
      </p:graphicFrame>
      <p:sp>
        <p:nvSpPr>
          <p:cNvPr id="5" name="TextBox 4"/>
          <p:cNvSpPr txBox="1"/>
          <p:nvPr/>
        </p:nvSpPr>
        <p:spPr>
          <a:xfrm>
            <a:off x="548640" y="6126480"/>
            <a:ext cx="7315200" cy="228600"/>
          </a:xfrm>
          <a:prstGeom prst="rect">
            <a:avLst/>
          </a:prstGeom>
          <a:noFill/>
        </p:spPr>
        <p:txBody>
          <a:bodyPr wrap="square" lIns="0" rIns="0" tIns="0" bIns="0" anchor="t">
            <a:spAutoFit/>
          </a:bodyPr>
          <a:lstStyle/>
          <a:p>
            <a:pPr algn="l">
              <a:lnSpc>
                <a:spcPct val="110000"/>
              </a:lnSpc>
              <a:spcAft>
                <a:spcPts val="600"/>
              </a:spcAft>
            </a:pPr>
            <a:r>
              <a:rPr sz="1100" b="0" i="0">
                <a:solidFill>
                  <a:srgbClr val="898781"/>
                </a:solidFill>
                <a:latin typeface="Calibri"/>
              </a:rPr>
              <a:t>Median PM2.5 (µg/m³) by month, 2015–2020 · India's 24-hour limit is 60</a:t>
            </a:r>
          </a:p>
        </p:txBody>
      </p:sp>
      <p:sp>
        <p:nvSpPr>
          <p:cNvPr id="6" name="TextBox 5"/>
          <p:cNvSpPr txBox="1"/>
          <p:nvPr/>
        </p:nvSpPr>
        <p:spPr>
          <a:xfrm>
            <a:off x="8229600" y="1783080"/>
            <a:ext cx="3383280" cy="685800"/>
          </a:xfrm>
          <a:prstGeom prst="rect">
            <a:avLst/>
          </a:prstGeom>
          <a:noFill/>
        </p:spPr>
        <p:txBody>
          <a:bodyPr wrap="square" lIns="0" rIns="0" tIns="0" bIns="0" anchor="t">
            <a:spAutoFit/>
          </a:bodyPr>
          <a:lstStyle/>
          <a:p>
            <a:pPr algn="l">
              <a:lnSpc>
                <a:spcPct val="100000"/>
              </a:lnSpc>
              <a:spcAft>
                <a:spcPts val="600"/>
              </a:spcAft>
            </a:pPr>
            <a:r>
              <a:rPr sz="3600" b="1" i="0">
                <a:solidFill>
                  <a:srgbClr val="0D366B"/>
                </a:solidFill>
                <a:latin typeface="Calibri"/>
              </a:rPr>
              <a:t>148 vs 44</a:t>
            </a:r>
          </a:p>
        </p:txBody>
      </p:sp>
      <p:sp>
        <p:nvSpPr>
          <p:cNvPr id="7" name="TextBox 6"/>
          <p:cNvSpPr txBox="1"/>
          <p:nvPr/>
        </p:nvSpPr>
        <p:spPr>
          <a:xfrm>
            <a:off x="8229600" y="2514600"/>
            <a:ext cx="3383280" cy="731520"/>
          </a:xfrm>
          <a:prstGeom prst="rect">
            <a:avLst/>
          </a:prstGeom>
          <a:noFill/>
        </p:spPr>
        <p:txBody>
          <a:bodyPr wrap="square" lIns="0" rIns="0" tIns="0" bIns="0" anchor="t">
            <a:spAutoFit/>
          </a:bodyPr>
          <a:lstStyle/>
          <a:p>
            <a:pPr algn="l">
              <a:lnSpc>
                <a:spcPct val="105000"/>
              </a:lnSpc>
              <a:spcAft>
                <a:spcPts val="600"/>
              </a:spcAft>
            </a:pPr>
            <a:r>
              <a:rPr sz="1300" b="0" i="0">
                <a:solidFill>
                  <a:srgbClr val="52514E"/>
                </a:solidFill>
                <a:latin typeface="Calibri"/>
              </a:rPr>
              <a:t>µg/m³: North India in Nov–Jan vs Jun–Sep. Coastal cities swing only 2.2×.</a:t>
            </a:r>
          </a:p>
        </p:txBody>
      </p:sp>
      <p:sp>
        <p:nvSpPr>
          <p:cNvPr id="8" name="TextBox 7"/>
          <p:cNvSpPr txBox="1"/>
          <p:nvPr/>
        </p:nvSpPr>
        <p:spPr>
          <a:xfrm>
            <a:off x="8229600" y="3657600"/>
            <a:ext cx="3383280" cy="685800"/>
          </a:xfrm>
          <a:prstGeom prst="rect">
            <a:avLst/>
          </a:prstGeom>
          <a:noFill/>
        </p:spPr>
        <p:txBody>
          <a:bodyPr wrap="square" lIns="0" rIns="0" tIns="0" bIns="0" anchor="t">
            <a:spAutoFit/>
          </a:bodyPr>
          <a:lstStyle/>
          <a:p>
            <a:pPr algn="l">
              <a:lnSpc>
                <a:spcPct val="100000"/>
              </a:lnSpc>
              <a:spcAft>
                <a:spcPts val="600"/>
              </a:spcAft>
            </a:pPr>
            <a:r>
              <a:rPr sz="3600" b="1" i="0">
                <a:solidFill>
                  <a:srgbClr val="2A78D6"/>
                </a:solidFill>
                <a:latin typeface="Calibri"/>
              </a:rPr>
              <a:t>23%, not 65%</a:t>
            </a:r>
          </a:p>
        </p:txBody>
      </p:sp>
      <p:sp>
        <p:nvSpPr>
          <p:cNvPr id="9" name="TextBox 8"/>
          <p:cNvSpPr txBox="1"/>
          <p:nvPr/>
        </p:nvSpPr>
        <p:spPr>
          <a:xfrm>
            <a:off x="8229600" y="4389120"/>
            <a:ext cx="3383280" cy="731520"/>
          </a:xfrm>
          <a:prstGeom prst="rect">
            <a:avLst/>
          </a:prstGeom>
          <a:noFill/>
        </p:spPr>
        <p:txBody>
          <a:bodyPr wrap="square" lIns="0" rIns="0" tIns="0" bIns="0" anchor="t">
            <a:spAutoFit/>
          </a:bodyPr>
          <a:lstStyle/>
          <a:p>
            <a:pPr algn="l">
              <a:lnSpc>
                <a:spcPct val="105000"/>
              </a:lnSpc>
              <a:spcAft>
                <a:spcPts val="600"/>
              </a:spcAft>
            </a:pPr>
            <a:r>
              <a:rPr sz="1300" b="0" i="0">
                <a:solidFill>
                  <a:srgbClr val="52514E"/>
                </a:solidFill>
                <a:latin typeface="Calibri"/>
              </a:rPr>
              <a:t>how much cleaner a heavy-rain day really is, once we compare the same city in the same month</a:t>
            </a:r>
          </a:p>
        </p:txBody>
      </p:sp>
      <p:sp>
        <p:nvSpPr>
          <p:cNvPr id="10" name="TextBox 9"/>
          <p:cNvSpPr txBox="1"/>
          <p:nvPr/>
        </p:nvSpPr>
        <p:spPr>
          <a:xfrm>
            <a:off x="548640" y="6400800"/>
            <a:ext cx="8229600"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898781"/>
                </a:solidFill>
                <a:latin typeface="Calibri"/>
              </a:rPr>
              <a:t>Breathe India · Mahak Wadhawan (L074) · Yash Shah (L056)</a:t>
            </a:r>
          </a:p>
        </p:txBody>
      </p:sp>
      <p:sp>
        <p:nvSpPr>
          <p:cNvPr id="11" name="TextBox 10"/>
          <p:cNvSpPr txBox="1"/>
          <p:nvPr/>
        </p:nvSpPr>
        <p:spPr>
          <a:xfrm>
            <a:off x="10725912" y="6400800"/>
            <a:ext cx="9144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898781"/>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2A78D6"/>
                </a:solidFill>
                <a:latin typeface="Calibri"/>
              </a:rPr>
              <a:t>MACHINE LEARNING · CLASSIFICATION</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lnSpc>
                <a:spcPct val="100000"/>
              </a:lnSpc>
              <a:spcAft>
                <a:spcPts val="600"/>
              </a:spcAft>
            </a:pPr>
            <a:r>
              <a:rPr sz="3000" b="1" i="0">
                <a:solidFill>
                  <a:srgbClr val="0D366B"/>
                </a:solidFill>
                <a:latin typeface="Calibri"/>
              </a:rPr>
              <a:t>Model A warns a day ahead and catches 92% of Poor-or-worse days</a:t>
            </a:r>
          </a:p>
        </p:txBody>
      </p:sp>
      <p:graphicFrame>
        <p:nvGraphicFramePr>
          <p:cNvPr id="4" name="Chart 3"/>
          <p:cNvGraphicFramePr>
            <a:graphicFrameLocks noGrp="1"/>
          </p:cNvGraphicFramePr>
          <p:nvPr/>
        </p:nvGraphicFramePr>
        <p:xfrm>
          <a:off x="548640" y="1600200"/>
          <a:ext cx="7315200" cy="4480560"/>
        </p:xfrm>
        <a:graphic>
          <a:graphicData uri="http://schemas.openxmlformats.org/drawingml/2006/chart">
            <c:chart xmlns:c="http://schemas.openxmlformats.org/drawingml/2006/chart" r:id="rId2"/>
          </a:graphicData>
        </a:graphic>
      </p:graphicFrame>
      <p:sp>
        <p:nvSpPr>
          <p:cNvPr id="5" name="TextBox 4"/>
          <p:cNvSpPr txBox="1"/>
          <p:nvPr/>
        </p:nvSpPr>
        <p:spPr>
          <a:xfrm>
            <a:off x="548640" y="6126480"/>
            <a:ext cx="7315200" cy="228600"/>
          </a:xfrm>
          <a:prstGeom prst="rect">
            <a:avLst/>
          </a:prstGeom>
          <a:noFill/>
        </p:spPr>
        <p:txBody>
          <a:bodyPr wrap="square" lIns="0" rIns="0" tIns="0" bIns="0" anchor="t">
            <a:spAutoFit/>
          </a:bodyPr>
          <a:lstStyle/>
          <a:p>
            <a:pPr algn="l">
              <a:lnSpc>
                <a:spcPct val="110000"/>
              </a:lnSpc>
              <a:spcAft>
                <a:spcPts val="600"/>
              </a:spcAft>
            </a:pPr>
            <a:r>
              <a:rPr sz="1100" b="0" i="0">
                <a:solidFill>
                  <a:srgbClr val="898781"/>
                </a:solidFill>
                <a:latin typeface="Calibri"/>
              </a:rPr>
              <a:t>Unseen test period Jan 2019 – Mar 2020 · time-ordered split, time-series cross-validation</a:t>
            </a:r>
          </a:p>
        </p:txBody>
      </p:sp>
      <p:sp>
        <p:nvSpPr>
          <p:cNvPr id="6" name="Rounded Rectangle 5"/>
          <p:cNvSpPr/>
          <p:nvPr/>
        </p:nvSpPr>
        <p:spPr>
          <a:xfrm>
            <a:off x="8229600" y="1783080"/>
            <a:ext cx="3383280" cy="19659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965960"/>
            <a:ext cx="3017520" cy="1737360"/>
          </a:xfrm>
          <a:prstGeom prst="rect">
            <a:avLst/>
          </a:prstGeom>
          <a:noFill/>
        </p:spPr>
        <p:txBody>
          <a:bodyPr wrap="square" lIns="0" rIns="0" tIns="0" bIns="0" anchor="t">
            <a:spAutoFit/>
          </a:bodyPr>
          <a:lstStyle/>
          <a:p>
            <a:pPr algn="l">
              <a:lnSpc>
                <a:spcPct val="110000"/>
              </a:lnSpc>
              <a:spcAft>
                <a:spcPts val="600"/>
              </a:spcAft>
            </a:pPr>
            <a:r>
              <a:rPr sz="1400" b="1" i="0">
                <a:solidFill>
                  <a:srgbClr val="0D366B"/>
                </a:solidFill>
                <a:latin typeface="Calibri"/>
              </a:rPr>
              <a:t>Gradient Boosting </a:t>
            </a:r>
            <a:r>
              <a:rPr sz="1400" b="0" i="0">
                <a:solidFill>
                  <a:srgbClr val="1A1A1A"/>
                </a:solidFill>
                <a:latin typeface="Calibri"/>
              </a:rPr>
              <a:t>beats “same as today” on accuracy (75% vs 72%) and is right 35% of the time when the category changes, where the baseline is always wrong.</a:t>
            </a:r>
          </a:p>
        </p:txBody>
      </p:sp>
      <p:sp>
        <p:nvSpPr>
          <p:cNvPr id="8" name="Rounded Rectangle 7"/>
          <p:cNvSpPr/>
          <p:nvPr/>
        </p:nvSpPr>
        <p:spPr>
          <a:xfrm>
            <a:off x="8229600" y="3931920"/>
            <a:ext cx="3383280" cy="19659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4114800"/>
            <a:ext cx="3017520" cy="1737360"/>
          </a:xfrm>
          <a:prstGeom prst="rect">
            <a:avLst/>
          </a:prstGeom>
          <a:noFill/>
        </p:spPr>
        <p:txBody>
          <a:bodyPr wrap="square" lIns="0" rIns="0" tIns="0" bIns="0" anchor="t">
            <a:spAutoFit/>
          </a:bodyPr>
          <a:lstStyle/>
          <a:p>
            <a:pPr algn="l">
              <a:lnSpc>
                <a:spcPct val="110000"/>
              </a:lnSpc>
              <a:spcAft>
                <a:spcPts val="600"/>
              </a:spcAft>
            </a:pPr>
            <a:r>
              <a:rPr sz="1400" b="1" i="0">
                <a:solidFill>
                  <a:srgbClr val="EB6834"/>
                </a:solidFill>
                <a:latin typeface="Calibri"/>
              </a:rPr>
              <a:t>Honest caveat: </a:t>
            </a:r>
            <a:r>
              <a:rPr sz="1400" b="0" i="0">
                <a:solidFill>
                  <a:srgbClr val="1A1A1A"/>
                </a:solidFill>
                <a:latin typeface="Calibri"/>
              </a:rPr>
              <a:t>in the lockdown its macro F1 fell to 0.59, below the baseline's 0.65. The rules it learned stopped applying.</a:t>
            </a:r>
          </a:p>
        </p:txBody>
      </p:sp>
      <p:sp>
        <p:nvSpPr>
          <p:cNvPr id="10" name="TextBox 9"/>
          <p:cNvSpPr txBox="1"/>
          <p:nvPr/>
        </p:nvSpPr>
        <p:spPr>
          <a:xfrm>
            <a:off x="548640" y="6400800"/>
            <a:ext cx="8229600"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898781"/>
                </a:solidFill>
                <a:latin typeface="Calibri"/>
              </a:rPr>
              <a:t>Breathe India · Mahak Wadhawan (L074) · Yash Shah (L056)</a:t>
            </a:r>
          </a:p>
        </p:txBody>
      </p:sp>
      <p:sp>
        <p:nvSpPr>
          <p:cNvPr id="11" name="TextBox 10"/>
          <p:cNvSpPr txBox="1"/>
          <p:nvPr/>
        </p:nvSpPr>
        <p:spPr>
          <a:xfrm>
            <a:off x="10725912" y="6400800"/>
            <a:ext cx="9144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898781"/>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2A78D6"/>
                </a:solidFill>
                <a:latin typeface="Calibri"/>
              </a:rPr>
              <a:t>MACHINE LEARNING · MODEL B COUNTERFACTUAL</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lnSpc>
                <a:spcPct val="100000"/>
              </a:lnSpc>
              <a:spcAft>
                <a:spcPts val="600"/>
              </a:spcAft>
            </a:pPr>
            <a:r>
              <a:rPr sz="3000" b="1" i="0">
                <a:solidFill>
                  <a:srgbClr val="0D366B"/>
                </a:solidFill>
                <a:latin typeface="Calibri"/>
              </a:rPr>
              <a:t>Weather removed, the lockdown cut PM2.5 by 28%, not 41%</a:t>
            </a:r>
          </a:p>
        </p:txBody>
      </p:sp>
      <p:pic>
        <p:nvPicPr>
          <p:cNvPr id="4" name="Picture 3" descr="13_counterfactual_cities.png"/>
          <p:cNvPicPr>
            <a:picLocks noChangeAspect="1"/>
          </p:cNvPicPr>
          <p:nvPr/>
        </p:nvPicPr>
        <p:blipFill>
          <a:blip r:embed="rId2"/>
          <a:stretch>
            <a:fillRect/>
          </a:stretch>
        </p:blipFill>
        <p:spPr>
          <a:xfrm>
            <a:off x="548640" y="1600200"/>
            <a:ext cx="11064240" cy="3233092"/>
          </a:xfrm>
          <a:prstGeom prst="rect">
            <a:avLst/>
          </a:prstGeom>
        </p:spPr>
      </p:pic>
      <p:sp>
        <p:nvSpPr>
          <p:cNvPr id="5" name="TextBox 4"/>
          <p:cNvSpPr txBox="1"/>
          <p:nvPr/>
        </p:nvSpPr>
        <p:spPr>
          <a:xfrm>
            <a:off x="548640" y="5074920"/>
            <a:ext cx="3566160" cy="502920"/>
          </a:xfrm>
          <a:prstGeom prst="rect">
            <a:avLst/>
          </a:prstGeom>
          <a:noFill/>
        </p:spPr>
        <p:txBody>
          <a:bodyPr wrap="square" lIns="0" rIns="0" tIns="0" bIns="0" anchor="t">
            <a:spAutoFit/>
          </a:bodyPr>
          <a:lstStyle/>
          <a:p>
            <a:pPr algn="l">
              <a:lnSpc>
                <a:spcPct val="110000"/>
              </a:lnSpc>
              <a:spcAft>
                <a:spcPts val="600"/>
              </a:spcAft>
            </a:pPr>
            <a:r>
              <a:rPr sz="2800" b="1" i="0">
                <a:solidFill>
                  <a:srgbClr val="2A78D6"/>
                </a:solidFill>
                <a:latin typeface="Calibri"/>
              </a:rPr>
              <a:t>−41% → −28%</a:t>
            </a:r>
          </a:p>
        </p:txBody>
      </p:sp>
      <p:sp>
        <p:nvSpPr>
          <p:cNvPr id="6" name="TextBox 5"/>
          <p:cNvSpPr txBox="1"/>
          <p:nvPr/>
        </p:nvSpPr>
        <p:spPr>
          <a:xfrm>
            <a:off x="548640" y="5623559"/>
            <a:ext cx="3566160" cy="457200"/>
          </a:xfrm>
          <a:prstGeom prst="rect">
            <a:avLst/>
          </a:prstGeom>
          <a:noFill/>
        </p:spPr>
        <p:txBody>
          <a:bodyPr wrap="square" lIns="0" rIns="0" tIns="0" bIns="0" anchor="t">
            <a:spAutoFit/>
          </a:bodyPr>
          <a:lstStyle/>
          <a:p>
            <a:pPr algn="l">
              <a:lnSpc>
                <a:spcPct val="110000"/>
              </a:lnSpc>
              <a:spcAft>
                <a:spcPts val="600"/>
              </a:spcAft>
            </a:pPr>
            <a:r>
              <a:rPr sz="1300" b="0" i="0">
                <a:solidFill>
                  <a:srgbClr val="52514E"/>
                </a:solidFill>
                <a:latin typeface="Calibri"/>
              </a:rPr>
              <a:t>PM2.5: naive vs weather-adjusted, median of 17 cities</a:t>
            </a:r>
          </a:p>
        </p:txBody>
      </p:sp>
      <p:sp>
        <p:nvSpPr>
          <p:cNvPr id="7" name="TextBox 6"/>
          <p:cNvSpPr txBox="1"/>
          <p:nvPr/>
        </p:nvSpPr>
        <p:spPr>
          <a:xfrm>
            <a:off x="4297679" y="5074920"/>
            <a:ext cx="3566160" cy="502920"/>
          </a:xfrm>
          <a:prstGeom prst="rect">
            <a:avLst/>
          </a:prstGeom>
          <a:noFill/>
        </p:spPr>
        <p:txBody>
          <a:bodyPr wrap="square" lIns="0" rIns="0" tIns="0" bIns="0" anchor="t">
            <a:spAutoFit/>
          </a:bodyPr>
          <a:lstStyle/>
          <a:p>
            <a:pPr algn="l">
              <a:lnSpc>
                <a:spcPct val="110000"/>
              </a:lnSpc>
              <a:spcAft>
                <a:spcPts val="600"/>
              </a:spcAft>
            </a:pPr>
            <a:r>
              <a:rPr sz="2800" b="1" i="0">
                <a:solidFill>
                  <a:srgbClr val="0D366B"/>
                </a:solidFill>
                <a:latin typeface="Calibri"/>
              </a:rPr>
              <a:t>−47% → −46%</a:t>
            </a:r>
          </a:p>
        </p:txBody>
      </p:sp>
      <p:sp>
        <p:nvSpPr>
          <p:cNvPr id="8" name="TextBox 7"/>
          <p:cNvSpPr txBox="1"/>
          <p:nvPr/>
        </p:nvSpPr>
        <p:spPr>
          <a:xfrm>
            <a:off x="4297679" y="5623559"/>
            <a:ext cx="3566160" cy="457200"/>
          </a:xfrm>
          <a:prstGeom prst="rect">
            <a:avLst/>
          </a:prstGeom>
          <a:noFill/>
        </p:spPr>
        <p:txBody>
          <a:bodyPr wrap="square" lIns="0" rIns="0" tIns="0" bIns="0" anchor="t">
            <a:spAutoFit/>
          </a:bodyPr>
          <a:lstStyle/>
          <a:p>
            <a:pPr algn="l">
              <a:lnSpc>
                <a:spcPct val="110000"/>
              </a:lnSpc>
              <a:spcAft>
                <a:spcPts val="600"/>
              </a:spcAft>
            </a:pPr>
            <a:r>
              <a:rPr sz="1300" b="0" i="0">
                <a:solidFill>
                  <a:srgbClr val="52514E"/>
                </a:solidFill>
                <a:latin typeface="Calibri"/>
              </a:rPr>
              <a:t>NO₂ (mostly traffic): a real drop either way</a:t>
            </a:r>
          </a:p>
        </p:txBody>
      </p:sp>
      <p:sp>
        <p:nvSpPr>
          <p:cNvPr id="9" name="TextBox 8"/>
          <p:cNvSpPr txBox="1"/>
          <p:nvPr/>
        </p:nvSpPr>
        <p:spPr>
          <a:xfrm>
            <a:off x="8046719" y="5074920"/>
            <a:ext cx="3566160" cy="502920"/>
          </a:xfrm>
          <a:prstGeom prst="rect">
            <a:avLst/>
          </a:prstGeom>
          <a:noFill/>
        </p:spPr>
        <p:txBody>
          <a:bodyPr wrap="square" lIns="0" rIns="0" tIns="0" bIns="0" anchor="t">
            <a:spAutoFit/>
          </a:bodyPr>
          <a:lstStyle/>
          <a:p>
            <a:pPr algn="l">
              <a:lnSpc>
                <a:spcPct val="110000"/>
              </a:lnSpc>
              <a:spcAft>
                <a:spcPts val="600"/>
              </a:spcAft>
            </a:pPr>
            <a:r>
              <a:rPr sz="2800" b="1" i="0">
                <a:solidFill>
                  <a:srgbClr val="898781"/>
                </a:solidFill>
                <a:latin typeface="Calibri"/>
              </a:rPr>
              <a:t>R² 0.55</a:t>
            </a:r>
          </a:p>
        </p:txBody>
      </p:sp>
      <p:sp>
        <p:nvSpPr>
          <p:cNvPr id="10" name="TextBox 9"/>
          <p:cNvSpPr txBox="1"/>
          <p:nvPr/>
        </p:nvSpPr>
        <p:spPr>
          <a:xfrm>
            <a:off x="8046719" y="5623559"/>
            <a:ext cx="3566160" cy="457200"/>
          </a:xfrm>
          <a:prstGeom prst="rect">
            <a:avLst/>
          </a:prstGeom>
          <a:noFill/>
        </p:spPr>
        <p:txBody>
          <a:bodyPr wrap="square" lIns="0" rIns="0" tIns="0" bIns="0" anchor="t">
            <a:spAutoFit/>
          </a:bodyPr>
          <a:lstStyle/>
          <a:p>
            <a:pPr algn="l">
              <a:lnSpc>
                <a:spcPct val="110000"/>
              </a:lnSpc>
              <a:spcAft>
                <a:spcPts val="600"/>
              </a:spcAft>
            </a:pPr>
            <a:r>
              <a:rPr sz="1300" b="0" i="0">
                <a:solidFill>
                  <a:srgbClr val="52514E"/>
                </a:solidFill>
                <a:latin typeface="Calibri"/>
              </a:rPr>
              <a:t>placebo test on spring 2019, when nothing happened</a:t>
            </a:r>
          </a:p>
        </p:txBody>
      </p:sp>
      <p:sp>
        <p:nvSpPr>
          <p:cNvPr id="11" name="TextBox 10"/>
          <p:cNvSpPr txBox="1"/>
          <p:nvPr/>
        </p:nvSpPr>
        <p:spPr>
          <a:xfrm>
            <a:off x="548640" y="6400800"/>
            <a:ext cx="8229600"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898781"/>
                </a:solidFill>
                <a:latin typeface="Calibri"/>
              </a:rPr>
              <a:t>Breathe India · Mahak Wadhawan (L074) · Yash Shah (L056)</a:t>
            </a:r>
          </a:p>
        </p:txBody>
      </p:sp>
      <p:sp>
        <p:nvSpPr>
          <p:cNvPr id="12" name="TextBox 11"/>
          <p:cNvSpPr txBox="1"/>
          <p:nvPr/>
        </p:nvSpPr>
        <p:spPr>
          <a:xfrm>
            <a:off x="10725912" y="6400800"/>
            <a:ext cx="9144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898781"/>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2A78D6"/>
                </a:solidFill>
                <a:latin typeface="Calibri"/>
              </a:rPr>
              <a:t>POWER BI</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lnSpc>
                <a:spcPct val="100000"/>
              </a:lnSpc>
              <a:spcAft>
                <a:spcPts val="600"/>
              </a:spcAft>
            </a:pPr>
            <a:r>
              <a:rPr sz="3000" b="1" i="0">
                <a:solidFill>
                  <a:srgbClr val="0D366B"/>
                </a:solidFill>
                <a:latin typeface="Calibri"/>
              </a:rPr>
              <a:t>The dashboard turns this into five questions a non-expert can explore</a:t>
            </a:r>
          </a:p>
        </p:txBody>
      </p:sp>
      <p:pic>
        <p:nvPicPr>
          <p:cNvPr id="4" name="Picture 3" descr="dashboard_1_overview.png"/>
          <p:cNvPicPr>
            <a:picLocks noChangeAspect="1"/>
          </p:cNvPicPr>
          <p:nvPr/>
        </p:nvPicPr>
        <p:blipFill>
          <a:blip r:embed="rId2"/>
          <a:stretch>
            <a:fillRect/>
          </a:stretch>
        </p:blipFill>
        <p:spPr>
          <a:xfrm>
            <a:off x="548640" y="1600200"/>
            <a:ext cx="7223760" cy="4177596"/>
          </a:xfrm>
          <a:prstGeom prst="rect">
            <a:avLst/>
          </a:prstGeom>
          <a:ln>
            <a:solidFill>
              <a:srgbClr val="E1E0D9"/>
            </a:solidFill>
          </a:ln>
        </p:spPr>
      </p:pic>
      <p:sp>
        <p:nvSpPr>
          <p:cNvPr id="5" name="Oval 4"/>
          <p:cNvSpPr/>
          <p:nvPr/>
        </p:nvSpPr>
        <p:spPr>
          <a:xfrm>
            <a:off x="8092440" y="1691640"/>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8641080" y="1645920"/>
            <a:ext cx="310896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Overview</a:t>
            </a:r>
          </a:p>
        </p:txBody>
      </p:sp>
      <p:sp>
        <p:nvSpPr>
          <p:cNvPr id="7" name="TextBox 6"/>
          <p:cNvSpPr txBox="1"/>
          <p:nvPr/>
        </p:nvSpPr>
        <p:spPr>
          <a:xfrm>
            <a:off x="8641080" y="1975104"/>
            <a:ext cx="3108960" cy="365760"/>
          </a:xfrm>
          <a:prstGeom prst="rect">
            <a:avLst/>
          </a:prstGeom>
          <a:noFill/>
        </p:spPr>
        <p:txBody>
          <a:bodyPr wrap="square" lIns="0" rIns="0" tIns="0" bIns="0" anchor="t">
            <a:spAutoFit/>
          </a:bodyPr>
          <a:lstStyle/>
          <a:p>
            <a:pPr algn="l">
              <a:lnSpc>
                <a:spcPct val="110000"/>
              </a:lnSpc>
              <a:spcAft>
                <a:spcPts val="600"/>
              </a:spcAft>
            </a:pPr>
            <a:r>
              <a:rPr sz="1300" b="0" i="0">
                <a:solidFill>
                  <a:srgbClr val="52514E"/>
                </a:solidFill>
                <a:latin typeface="Calibri"/>
              </a:rPr>
              <a:t>where and when the air is worst</a:t>
            </a:r>
          </a:p>
        </p:txBody>
      </p:sp>
      <p:sp>
        <p:nvSpPr>
          <p:cNvPr id="8" name="Oval 7"/>
          <p:cNvSpPr/>
          <p:nvPr/>
        </p:nvSpPr>
        <p:spPr>
          <a:xfrm>
            <a:off x="8092440" y="2542032"/>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8641080" y="2496312"/>
            <a:ext cx="310896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City explorer</a:t>
            </a:r>
          </a:p>
        </p:txBody>
      </p:sp>
      <p:sp>
        <p:nvSpPr>
          <p:cNvPr id="10" name="TextBox 9"/>
          <p:cNvSpPr txBox="1"/>
          <p:nvPr/>
        </p:nvSpPr>
        <p:spPr>
          <a:xfrm>
            <a:off x="8641080" y="2825496"/>
            <a:ext cx="3108960" cy="365760"/>
          </a:xfrm>
          <a:prstGeom prst="rect">
            <a:avLst/>
          </a:prstGeom>
          <a:noFill/>
        </p:spPr>
        <p:txBody>
          <a:bodyPr wrap="square" lIns="0" rIns="0" tIns="0" bIns="0" anchor="t">
            <a:spAutoFit/>
          </a:bodyPr>
          <a:lstStyle/>
          <a:p>
            <a:pPr algn="l">
              <a:lnSpc>
                <a:spcPct val="110000"/>
              </a:lnSpc>
              <a:spcAft>
                <a:spcPts val="600"/>
              </a:spcAft>
            </a:pPr>
            <a:r>
              <a:rPr sz="1300" b="0" i="0">
                <a:solidFill>
                  <a:srgbClr val="52514E"/>
                </a:solidFill>
                <a:latin typeface="Calibri"/>
              </a:rPr>
              <a:t>one city's year, stations, AQI bands</a:t>
            </a:r>
          </a:p>
        </p:txBody>
      </p:sp>
      <p:sp>
        <p:nvSpPr>
          <p:cNvPr id="11" name="Oval 10"/>
          <p:cNvSpPr/>
          <p:nvPr/>
        </p:nvSpPr>
        <p:spPr>
          <a:xfrm>
            <a:off x="8092440" y="3392424"/>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2" name="TextBox 11"/>
          <p:cNvSpPr txBox="1"/>
          <p:nvPr/>
        </p:nvSpPr>
        <p:spPr>
          <a:xfrm>
            <a:off x="8641080" y="3346704"/>
            <a:ext cx="310896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Lockdown</a:t>
            </a:r>
          </a:p>
        </p:txBody>
      </p:sp>
      <p:sp>
        <p:nvSpPr>
          <p:cNvPr id="13" name="TextBox 12"/>
          <p:cNvSpPr txBox="1"/>
          <p:nvPr/>
        </p:nvSpPr>
        <p:spPr>
          <a:xfrm>
            <a:off x="8641080" y="3675888"/>
            <a:ext cx="3108960" cy="365760"/>
          </a:xfrm>
          <a:prstGeom prst="rect">
            <a:avLst/>
          </a:prstGeom>
          <a:noFill/>
        </p:spPr>
        <p:txBody>
          <a:bodyPr wrap="square" lIns="0" rIns="0" tIns="0" bIns="0" anchor="t">
            <a:spAutoFit/>
          </a:bodyPr>
          <a:lstStyle/>
          <a:p>
            <a:pPr algn="l">
              <a:lnSpc>
                <a:spcPct val="110000"/>
              </a:lnSpc>
              <a:spcAft>
                <a:spcPts val="600"/>
              </a:spcAft>
            </a:pPr>
            <a:r>
              <a:rPr sz="1300" b="0" i="0">
                <a:solidFill>
                  <a:srgbClr val="52514E"/>
                </a:solidFill>
                <a:latin typeface="Calibri"/>
              </a:rPr>
              <a:t>actual vs expected, pick any city</a:t>
            </a:r>
          </a:p>
        </p:txBody>
      </p:sp>
      <p:sp>
        <p:nvSpPr>
          <p:cNvPr id="14" name="Oval 13"/>
          <p:cNvSpPr/>
          <p:nvPr/>
        </p:nvSpPr>
        <p:spPr>
          <a:xfrm>
            <a:off x="8092440" y="4242816"/>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5" name="TextBox 14"/>
          <p:cNvSpPr txBox="1"/>
          <p:nvPr/>
        </p:nvSpPr>
        <p:spPr>
          <a:xfrm>
            <a:off x="8641080" y="4197096"/>
            <a:ext cx="310896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Early warning</a:t>
            </a:r>
          </a:p>
        </p:txBody>
      </p:sp>
      <p:sp>
        <p:nvSpPr>
          <p:cNvPr id="16" name="TextBox 15"/>
          <p:cNvSpPr txBox="1"/>
          <p:nvPr/>
        </p:nvSpPr>
        <p:spPr>
          <a:xfrm>
            <a:off x="8641080" y="4526280"/>
            <a:ext cx="3108960" cy="365760"/>
          </a:xfrm>
          <a:prstGeom prst="rect">
            <a:avLst/>
          </a:prstGeom>
          <a:noFill/>
        </p:spPr>
        <p:txBody>
          <a:bodyPr wrap="square" lIns="0" rIns="0" tIns="0" bIns="0" anchor="t">
            <a:spAutoFit/>
          </a:bodyPr>
          <a:lstStyle/>
          <a:p>
            <a:pPr algn="l">
              <a:lnSpc>
                <a:spcPct val="110000"/>
              </a:lnSpc>
              <a:spcAft>
                <a:spcPts val="600"/>
              </a:spcAft>
            </a:pPr>
            <a:r>
              <a:rPr sz="1300" b="0" i="0">
                <a:solidFill>
                  <a:srgbClr val="52514E"/>
                </a:solidFill>
                <a:latin typeface="Calibri"/>
              </a:rPr>
              <a:t>model vs baseline, switch periods</a:t>
            </a:r>
          </a:p>
        </p:txBody>
      </p:sp>
      <p:sp>
        <p:nvSpPr>
          <p:cNvPr id="17" name="Oval 16"/>
          <p:cNvSpPr/>
          <p:nvPr/>
        </p:nvSpPr>
        <p:spPr>
          <a:xfrm>
            <a:off x="8092440" y="5093208"/>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8" name="TextBox 17"/>
          <p:cNvSpPr txBox="1"/>
          <p:nvPr/>
        </p:nvSpPr>
        <p:spPr>
          <a:xfrm>
            <a:off x="8641080" y="5047488"/>
            <a:ext cx="310896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0D366B"/>
                </a:solidFill>
                <a:latin typeface="Calibri"/>
              </a:rPr>
              <a:t>Data quality</a:t>
            </a:r>
          </a:p>
        </p:txBody>
      </p:sp>
      <p:sp>
        <p:nvSpPr>
          <p:cNvPr id="19" name="TextBox 18"/>
          <p:cNvSpPr txBox="1"/>
          <p:nvPr/>
        </p:nvSpPr>
        <p:spPr>
          <a:xfrm>
            <a:off x="8641080" y="5376672"/>
            <a:ext cx="3108960" cy="365760"/>
          </a:xfrm>
          <a:prstGeom prst="rect">
            <a:avLst/>
          </a:prstGeom>
          <a:noFill/>
        </p:spPr>
        <p:txBody>
          <a:bodyPr wrap="square" lIns="0" rIns="0" tIns="0" bIns="0" anchor="t">
            <a:spAutoFit/>
          </a:bodyPr>
          <a:lstStyle/>
          <a:p>
            <a:pPr algn="l">
              <a:lnSpc>
                <a:spcPct val="110000"/>
              </a:lnSpc>
              <a:spcAft>
                <a:spcPts val="600"/>
              </a:spcAft>
            </a:pPr>
            <a:r>
              <a:rPr sz="1300" b="0" i="0">
                <a:solidFill>
                  <a:srgbClr val="52514E"/>
                </a:solidFill>
                <a:latin typeface="Calibri"/>
              </a:rPr>
              <a:t>every cleaning decision and why</a:t>
            </a:r>
          </a:p>
        </p:txBody>
      </p:sp>
      <p:sp>
        <p:nvSpPr>
          <p:cNvPr id="20" name="TextBox 19"/>
          <p:cNvSpPr txBox="1"/>
          <p:nvPr/>
        </p:nvSpPr>
        <p:spPr>
          <a:xfrm>
            <a:off x="548640" y="5897880"/>
            <a:ext cx="10972800" cy="320040"/>
          </a:xfrm>
          <a:prstGeom prst="rect">
            <a:avLst/>
          </a:prstGeom>
          <a:noFill/>
        </p:spPr>
        <p:txBody>
          <a:bodyPr wrap="square" lIns="0" rIns="0" tIns="0" bIns="0" anchor="t">
            <a:spAutoFit/>
          </a:bodyPr>
          <a:lstStyle/>
          <a:p>
            <a:pPr algn="l">
              <a:lnSpc>
                <a:spcPct val="110000"/>
              </a:lnSpc>
              <a:spcAft>
                <a:spcPts val="600"/>
              </a:spcAft>
            </a:pPr>
            <a:r>
              <a:rPr sz="1300" b="1" i="0">
                <a:solidFill>
                  <a:srgbClr val="2A78D6"/>
                </a:solidFill>
                <a:latin typeface="Calibri"/>
              </a:rPr>
              <a:t>Live demo: Breathe_India.pbix · hover a city, drill into Delhi, switch Test → Lockdown</a:t>
            </a:r>
          </a:p>
        </p:txBody>
      </p:sp>
      <p:sp>
        <p:nvSpPr>
          <p:cNvPr id="21" name="TextBox 20"/>
          <p:cNvSpPr txBox="1"/>
          <p:nvPr/>
        </p:nvSpPr>
        <p:spPr>
          <a:xfrm>
            <a:off x="548640" y="6400800"/>
            <a:ext cx="8229600"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898781"/>
                </a:solidFill>
                <a:latin typeface="Calibri"/>
              </a:rPr>
              <a:t>Breathe India · Mahak Wadhawan (L074) · Yash Shah (L056)</a:t>
            </a:r>
          </a:p>
        </p:txBody>
      </p:sp>
      <p:sp>
        <p:nvSpPr>
          <p:cNvPr id="22" name="TextBox 21"/>
          <p:cNvSpPr txBox="1"/>
          <p:nvPr/>
        </p:nvSpPr>
        <p:spPr>
          <a:xfrm>
            <a:off x="10725912" y="6400800"/>
            <a:ext cx="9144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898781"/>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366B"/>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9EC5F4"/>
                </a:solidFill>
                <a:latin typeface="Calibri"/>
              </a:rPr>
              <a:t>LIMITATIONS AND CONCLUSION</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lnSpc>
                <a:spcPct val="100000"/>
              </a:lnSpc>
              <a:spcAft>
                <a:spcPts val="600"/>
              </a:spcAft>
            </a:pPr>
            <a:r>
              <a:rPr sz="3000" b="1" i="0">
                <a:solidFill>
                  <a:srgbClr val="FFFFFF"/>
                </a:solidFill>
                <a:latin typeface="Calibri"/>
              </a:rPr>
              <a:t>What we can say, and what we can't</a:t>
            </a:r>
          </a:p>
        </p:txBody>
      </p:sp>
      <p:sp>
        <p:nvSpPr>
          <p:cNvPr id="4" name="TextBox 3"/>
          <p:cNvSpPr txBox="1"/>
          <p:nvPr/>
        </p:nvSpPr>
        <p:spPr>
          <a:xfrm>
            <a:off x="548640" y="1737360"/>
            <a:ext cx="5394960" cy="365760"/>
          </a:xfrm>
          <a:prstGeom prst="rect">
            <a:avLst/>
          </a:prstGeom>
          <a:noFill/>
        </p:spPr>
        <p:txBody>
          <a:bodyPr wrap="square" lIns="0" rIns="0" tIns="0" bIns="0" anchor="t">
            <a:spAutoFit/>
          </a:bodyPr>
          <a:lstStyle/>
          <a:p>
            <a:pPr algn="l">
              <a:lnSpc>
                <a:spcPct val="110000"/>
              </a:lnSpc>
              <a:spcAft>
                <a:spcPts val="600"/>
              </a:spcAft>
            </a:pPr>
            <a:r>
              <a:rPr sz="1800" b="1" i="0">
                <a:solidFill>
                  <a:srgbClr val="9EC5F4"/>
                </a:solidFill>
                <a:latin typeface="Calibri"/>
              </a:rPr>
              <a:t>Limitations</a:t>
            </a:r>
          </a:p>
        </p:txBody>
      </p:sp>
      <p:sp>
        <p:nvSpPr>
          <p:cNvPr id="5" name="TextBox 4"/>
          <p:cNvSpPr txBox="1"/>
          <p:nvPr/>
        </p:nvSpPr>
        <p:spPr>
          <a:xfrm>
            <a:off x="548640" y="2194560"/>
            <a:ext cx="5394960" cy="3291840"/>
          </a:xfrm>
          <a:prstGeom prst="rect">
            <a:avLst/>
          </a:prstGeom>
          <a:noFill/>
        </p:spPr>
        <p:txBody>
          <a:bodyPr wrap="square" lIns="0" rIns="0" tIns="0" bIns="0" anchor="t">
            <a:spAutoFit/>
          </a:bodyPr>
          <a:lstStyle/>
          <a:p>
            <a:pPr algn="l">
              <a:lnSpc>
                <a:spcPct val="110000"/>
              </a:lnSpc>
              <a:spcAft>
                <a:spcPts val="900"/>
              </a:spcAft>
            </a:pPr>
            <a:r>
              <a:rPr sz="1500" b="0" i="0">
                <a:solidFill>
                  <a:srgbClr val="FFFFFF"/>
                </a:solidFill>
                <a:latin typeface="Calibri"/>
              </a:rPr>
              <a:t>Monitors cover parts of 26 cities, not everyone's exposure</a:t>
            </a:r>
          </a:p>
          <a:p>
            <a:pPr algn="l">
              <a:lnSpc>
                <a:spcPct val="110000"/>
              </a:lnSpc>
              <a:spcAft>
                <a:spcPts val="900"/>
              </a:spcAft>
            </a:pPr>
            <a:r>
              <a:rPr sz="1500" b="0" i="0">
                <a:solidFill>
                  <a:srgbClr val="FFFFFF"/>
                </a:solidFill>
                <a:latin typeface="Calibri"/>
              </a:rPr>
              <a:t>Our AQI corrections are recalculations, not CPCB's own</a:t>
            </a:r>
          </a:p>
          <a:p>
            <a:pPr algn="l">
              <a:lnSpc>
                <a:spcPct val="110000"/>
              </a:lnSpc>
              <a:spcAft>
                <a:spcPts val="900"/>
              </a:spcAft>
            </a:pPr>
            <a:r>
              <a:rPr sz="1500" b="0" i="0">
                <a:solidFill>
                  <a:srgbClr val="FFFFFF"/>
                </a:solidFill>
                <a:latin typeface="Calibri"/>
              </a:rPr>
              <a:t>Model A uses actual weather as a forecast stand-in</a:t>
            </a:r>
          </a:p>
          <a:p>
            <a:pPr algn="l">
              <a:lnSpc>
                <a:spcPct val="110000"/>
              </a:lnSpc>
              <a:spcAft>
                <a:spcPts val="900"/>
              </a:spcAft>
            </a:pPr>
            <a:r>
              <a:rPr sz="1500" b="0" i="0">
                <a:solidFill>
                  <a:srgbClr val="FFFFFF"/>
                </a:solidFill>
                <a:latin typeface="Calibri"/>
              </a:rPr>
              <a:t>Model B assumes 2015–19 “normal” would have held in 2020</a:t>
            </a:r>
          </a:p>
          <a:p>
            <a:pPr algn="l">
              <a:lnSpc>
                <a:spcPct val="110000"/>
              </a:lnSpc>
              <a:spcAft>
                <a:spcPts val="900"/>
              </a:spcAft>
            </a:pPr>
            <a:r>
              <a:rPr sz="1500" b="0" i="0">
                <a:solidFill>
                  <a:srgbClr val="FFFFFF"/>
                </a:solidFill>
                <a:latin typeface="Calibri"/>
              </a:rPr>
              <a:t>Data ends 1 July 2020</a:t>
            </a:r>
          </a:p>
        </p:txBody>
      </p:sp>
      <p:sp>
        <p:nvSpPr>
          <p:cNvPr id="6" name="TextBox 5"/>
          <p:cNvSpPr txBox="1"/>
          <p:nvPr/>
        </p:nvSpPr>
        <p:spPr>
          <a:xfrm>
            <a:off x="6400800" y="1737360"/>
            <a:ext cx="5212080" cy="365760"/>
          </a:xfrm>
          <a:prstGeom prst="rect">
            <a:avLst/>
          </a:prstGeom>
          <a:noFill/>
        </p:spPr>
        <p:txBody>
          <a:bodyPr wrap="square" lIns="0" rIns="0" tIns="0" bIns="0" anchor="t">
            <a:spAutoFit/>
          </a:bodyPr>
          <a:lstStyle/>
          <a:p>
            <a:pPr algn="l">
              <a:lnSpc>
                <a:spcPct val="110000"/>
              </a:lnSpc>
              <a:spcAft>
                <a:spcPts val="600"/>
              </a:spcAft>
            </a:pPr>
            <a:r>
              <a:rPr sz="1800" b="1" i="0">
                <a:solidFill>
                  <a:srgbClr val="9EC5F4"/>
                </a:solidFill>
                <a:latin typeface="Calibri"/>
              </a:rPr>
              <a:t>Takeaways</a:t>
            </a:r>
          </a:p>
        </p:txBody>
      </p:sp>
      <p:sp>
        <p:nvSpPr>
          <p:cNvPr id="7" name="TextBox 6"/>
          <p:cNvSpPr txBox="1"/>
          <p:nvPr/>
        </p:nvSpPr>
        <p:spPr>
          <a:xfrm>
            <a:off x="6400800" y="2194560"/>
            <a:ext cx="5212080" cy="2743200"/>
          </a:xfrm>
          <a:prstGeom prst="rect">
            <a:avLst/>
          </a:prstGeom>
          <a:noFill/>
        </p:spPr>
        <p:txBody>
          <a:bodyPr wrap="square" lIns="0" rIns="0" tIns="0" bIns="0" anchor="t">
            <a:spAutoFit/>
          </a:bodyPr>
          <a:lstStyle/>
          <a:p>
            <a:pPr algn="l">
              <a:lnSpc>
                <a:spcPct val="110000"/>
              </a:lnSpc>
              <a:spcAft>
                <a:spcPts val="900"/>
              </a:spcAft>
            </a:pPr>
            <a:r>
              <a:rPr sz="1500" b="0" i="0">
                <a:solidFill>
                  <a:srgbClr val="FFFFFF"/>
                </a:solidFill>
                <a:latin typeface="Calibri"/>
              </a:rPr>
              <a:t>Season sets the baseline: winter is the problem in the north</a:t>
            </a:r>
          </a:p>
          <a:p>
            <a:pPr algn="l">
              <a:lnSpc>
                <a:spcPct val="110000"/>
              </a:lnSpc>
              <a:spcAft>
                <a:spcPts val="900"/>
              </a:spcAft>
            </a:pPr>
            <a:r>
              <a:rPr sz="1500" b="0" i="0">
                <a:solidFill>
                  <a:srgbClr val="FFFFFF"/>
                </a:solidFill>
                <a:latin typeface="Calibri"/>
              </a:rPr>
              <a:t>People still matter: −28% PM2.5 and −46% NO₂ without traffic</a:t>
            </a:r>
          </a:p>
          <a:p>
            <a:pPr algn="l">
              <a:lnSpc>
                <a:spcPct val="110000"/>
              </a:lnSpc>
              <a:spcAft>
                <a:spcPts val="900"/>
              </a:spcAft>
            </a:pPr>
            <a:r>
              <a:rPr sz="1500" b="0" i="0">
                <a:solidFill>
                  <a:srgbClr val="FFFFFF"/>
                </a:solidFill>
                <a:latin typeface="Calibri"/>
              </a:rPr>
              <a:t>Wrangling changed the answer: check the data before trusting a ranking</a:t>
            </a:r>
          </a:p>
        </p:txBody>
      </p:sp>
      <p:sp>
        <p:nvSpPr>
          <p:cNvPr id="8" name="TextBox 7"/>
          <p:cNvSpPr txBox="1"/>
          <p:nvPr/>
        </p:nvSpPr>
        <p:spPr>
          <a:xfrm>
            <a:off x="6400800" y="4480560"/>
            <a:ext cx="5212080" cy="1005840"/>
          </a:xfrm>
          <a:prstGeom prst="rect">
            <a:avLst/>
          </a:prstGeom>
          <a:noFill/>
        </p:spPr>
        <p:txBody>
          <a:bodyPr wrap="square" lIns="0" rIns="0" tIns="0" bIns="0" anchor="t">
            <a:spAutoFit/>
          </a:bodyPr>
          <a:lstStyle/>
          <a:p>
            <a:pPr algn="l">
              <a:lnSpc>
                <a:spcPct val="110000"/>
              </a:lnSpc>
              <a:spcAft>
                <a:spcPts val="600"/>
              </a:spcAft>
            </a:pPr>
            <a:r>
              <a:rPr sz="1300" b="1" i="0">
                <a:solidFill>
                  <a:srgbClr val="9EC5F4"/>
                </a:solidFill>
                <a:latin typeface="Calibri"/>
              </a:rPr>
              <a:t>Contribution: </a:t>
            </a:r>
            <a:r>
              <a:rPr sz="1300" b="0" i="0">
                <a:solidFill>
                  <a:srgbClr val="FFFFFF"/>
                </a:solidFill>
                <a:latin typeface="Calibri"/>
              </a:rPr>
              <a:t>Mahak led transformation, the models and the dashboard; Yash led extraction, cleaning and storage; insights, report and deck together.</a:t>
            </a:r>
          </a:p>
        </p:txBody>
      </p:sp>
      <p:sp>
        <p:nvSpPr>
          <p:cNvPr id="9" name="TextBox 8"/>
          <p:cNvSpPr txBox="1"/>
          <p:nvPr/>
        </p:nvSpPr>
        <p:spPr>
          <a:xfrm>
            <a:off x="548640" y="5669280"/>
            <a:ext cx="10972800" cy="548640"/>
          </a:xfrm>
          <a:prstGeom prst="rect">
            <a:avLst/>
          </a:prstGeom>
          <a:noFill/>
        </p:spPr>
        <p:txBody>
          <a:bodyPr wrap="square" lIns="0" rIns="0" tIns="0" bIns="0" anchor="t">
            <a:spAutoFit/>
          </a:bodyPr>
          <a:lstStyle/>
          <a:p>
            <a:pPr algn="l">
              <a:lnSpc>
                <a:spcPct val="110000"/>
              </a:lnSpc>
              <a:spcAft>
                <a:spcPts val="600"/>
              </a:spcAft>
            </a:pPr>
            <a:r>
              <a:rPr sz="2600" b="1" i="0">
                <a:solidFill>
                  <a:srgbClr val="FFFFFF"/>
                </a:solidFill>
                <a:latin typeface="Calibri"/>
              </a:rPr>
              <a:t>Thank you. Questions?</a:t>
            </a:r>
          </a:p>
        </p:txBody>
      </p:sp>
      <p:sp>
        <p:nvSpPr>
          <p:cNvPr id="10" name="TextBox 9"/>
          <p:cNvSpPr txBox="1"/>
          <p:nvPr/>
        </p:nvSpPr>
        <p:spPr>
          <a:xfrm>
            <a:off x="548640" y="6400800"/>
            <a:ext cx="8229600"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9EC5F4"/>
                </a:solidFill>
                <a:latin typeface="Calibri"/>
              </a:rPr>
              <a:t>Breathe India · Mahak Wadhawan (L074) · Yash Shah (L056)</a:t>
            </a:r>
          </a:p>
        </p:txBody>
      </p:sp>
      <p:sp>
        <p:nvSpPr>
          <p:cNvPr id="11" name="TextBox 10"/>
          <p:cNvSpPr txBox="1"/>
          <p:nvPr/>
        </p:nvSpPr>
        <p:spPr>
          <a:xfrm>
            <a:off x="10725912" y="6400800"/>
            <a:ext cx="9144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9EC5F4"/>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Breathe India: what really drives air pollution in Indian cities?</dc:title>
  <dc:subject/>
  <dc:creator>Mahak Wadhawan, Yash Shah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